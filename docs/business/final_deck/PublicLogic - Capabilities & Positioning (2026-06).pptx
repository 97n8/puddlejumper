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69880" y="0"/>
            <a:ext cx="1719072" cy="685800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69880" y="2926080"/>
            <a:ext cx="17190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400" b="0" i="1">
                <a:solidFill>
                  <a:srgbClr val="CFC9BE"/>
                </a:solidFill>
                <a:latin typeface="Georgia"/>
              </a:rPr>
              <a:t>steward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C   A   P   A   B   I   L   I   T   I   E   S       &amp;       P   O   S   I   T   I   O   N   I   N   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0584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9418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5F4F0"/>
                </a:solidFill>
                <a:latin typeface="Georgia"/>
              </a:rPr>
              <a:t>PUBLICLOGIC</a:t>
            </a:r>
          </a:p>
          <a:p>
            <a:pPr algn="l">
              <a:lnSpc>
                <a:spcPct val="105000"/>
              </a:lnSpc>
            </a:pPr>
            <a:r>
              <a:rPr sz="2100" b="0" i="1">
                <a:solidFill>
                  <a:srgbClr val="A9772F"/>
                </a:solidFill>
                <a:latin typeface="Georgia"/>
              </a:rPr>
              <a:t>Institutional Stewardship through Project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9418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1">
                <a:solidFill>
                  <a:srgbClr val="F5F4F0"/>
                </a:solidFill>
                <a:latin typeface="Georgia"/>
              </a:rPr>
              <a:t>“Implementation is the service.</a:t>
            </a:r>
          </a:p>
          <a:p>
            <a:pPr algn="l">
              <a:lnSpc>
                <a:spcPct val="110000"/>
              </a:lnSpc>
            </a:pPr>
            <a:r>
              <a:rPr sz="2200" b="0" i="1">
                <a:solidFill>
                  <a:srgbClr val="F5F4F0"/>
                </a:solidFill>
                <a:latin typeface="Georgia"/>
              </a:rPr>
              <a:t> Institutional Stewardship is the method.”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6072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B9B3A8"/>
                </a:solidFill>
                <a:latin typeface="Helvetica Neue"/>
              </a:rPr>
              <a:t>Business Development &amp; Market Positioning  ·  v2.0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T   H   E       P   R   O   B   L   E   M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Important work becomes disconnected from the systems that sustain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1A1D20"/>
                </a:solidFill>
                <a:latin typeface="Georgia"/>
              </a:rPr>
              <a:t>Organizations don’t fail because they lack ideas. They fail because capacity stops keeping pace with complexity.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34640"/>
            <a:ext cx="3383280" cy="68580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834640"/>
            <a:ext cx="91440" cy="68580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34640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1A1D20"/>
                </a:solidFill>
                <a:latin typeface="Helvetica Neue"/>
              </a:rPr>
              <a:t>Projects stall.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834640"/>
            <a:ext cx="3383280" cy="68580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834640"/>
            <a:ext cx="91440" cy="68580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834640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1A1D20"/>
                </a:solidFill>
                <a:latin typeface="Helvetica Neue"/>
              </a:rPr>
              <a:t>Funding opportunities are missed.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2834640"/>
            <a:ext cx="3383280" cy="68580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2834640"/>
            <a:ext cx="91440" cy="68580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834640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1A1D20"/>
                </a:solidFill>
                <a:latin typeface="Helvetica Neue"/>
              </a:rPr>
              <a:t>Knowledge leaves.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703320"/>
            <a:ext cx="3383280" cy="68580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703320"/>
            <a:ext cx="91440" cy="68580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703320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1A1D20"/>
                </a:solidFill>
                <a:latin typeface="Helvetica Neue"/>
              </a:rPr>
              <a:t>Responsibilities become unclear.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703320"/>
            <a:ext cx="3383280" cy="68580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703320"/>
            <a:ext cx="91440" cy="68580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703320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1A1D20"/>
                </a:solidFill>
                <a:latin typeface="Helvetica Neue"/>
              </a:rPr>
              <a:t>Plans sit on shelves.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3703320"/>
            <a:ext cx="3383280" cy="68580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01000" y="3703320"/>
            <a:ext cx="91440" cy="68580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3703320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1A1D20"/>
                </a:solidFill>
                <a:latin typeface="Helvetica Neue"/>
              </a:rPr>
              <a:t>Momentum disappears.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4632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F4C3A"/>
                </a:solidFill>
                <a:latin typeface="Helvetica Neue"/>
              </a:rPr>
              <a:t>These look like separate problems. They are usually one: institutional capacity is not keeping pace with organizational complexity.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PUBLICLOGIC LLC   ·   INSTITUTIONAL STEWARDSHIP THROUGH PROJECT 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86000"/>
            <a:ext cx="100584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 i="0">
                <a:solidFill>
                  <a:srgbClr val="F5F4F0"/>
                </a:solidFill>
                <a:latin typeface="Georgia"/>
              </a:rPr>
              <a:t>Every organization has a Chair.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1">
                <a:solidFill>
                  <a:srgbClr val="F5F4F0"/>
                </a:solidFill>
                <a:latin typeface="Georgia"/>
              </a:rPr>
              <a:t>Not a seat. A responsibility. A function. A body of knowledge. A place where continuity resides.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062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DCD7CD"/>
                </a:solidFill>
                <a:latin typeface="Helvetica Neue"/>
              </a:rPr>
              <a:t>When the Chair depends on a single individual, risk rises.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DCD7CD"/>
                </a:solidFill>
                <a:latin typeface="Helvetica Neue"/>
              </a:rPr>
              <a:t>When knowledge is undocumented, projects become fragile.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DCD7CD"/>
                </a:solidFill>
                <a:latin typeface="Helvetica Neue"/>
              </a:rPr>
              <a:t>When turnover occurs, momentum is lost.</a:t>
            </a:r>
          </a:p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A9772F"/>
                </a:solidFill>
                <a:latin typeface="Helvetica Neue"/>
              </a:rPr>
              <a:t>PublicLogic exists to reduce those risks.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W   H   A   T       W   E       S   E   L   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Clients buy outcomes. We deliver them through stewardship.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03120"/>
            <a:ext cx="5486400" cy="77724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5120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0" i="1">
                <a:solidFill>
                  <a:srgbClr val="1A1D20"/>
                </a:solidFill>
                <a:latin typeface="Georgia"/>
              </a:rPr>
              <a:t>“Help us figure this out.”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2103120"/>
            <a:ext cx="4892040" cy="77724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4480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F5F4F0"/>
                </a:solidFill>
                <a:latin typeface="Helvetica Neue"/>
              </a:rPr>
              <a:t>Project Development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63240"/>
            <a:ext cx="5486400" cy="77724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63240"/>
            <a:ext cx="5120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0" i="1">
                <a:solidFill>
                  <a:srgbClr val="1A1D20"/>
                </a:solidFill>
                <a:latin typeface="Georgia"/>
              </a:rPr>
              <a:t>“Help us pay for this.”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3063240"/>
            <a:ext cx="4892040" cy="77724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3063240"/>
            <a:ext cx="4480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F5F4F0"/>
                </a:solidFill>
                <a:latin typeface="Helvetica Neue"/>
              </a:rPr>
              <a:t>Funding Strategy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023360"/>
            <a:ext cx="5486400" cy="77724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023360"/>
            <a:ext cx="5120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0" i="1">
                <a:solidFill>
                  <a:srgbClr val="1A1D20"/>
                </a:solidFill>
                <a:latin typeface="Georgia"/>
              </a:rPr>
              <a:t>“Help us get this done.”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4023360"/>
            <a:ext cx="4892040" cy="77724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4023360"/>
            <a:ext cx="4480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F5F4F0"/>
                </a:solidFill>
                <a:latin typeface="Helvetica Neue"/>
              </a:rPr>
              <a:t>Implementation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949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1">
                <a:solidFill>
                  <a:srgbClr val="6B6660"/>
                </a:solidFill>
                <a:latin typeface="Helvetica Neue"/>
              </a:rPr>
              <a:t>The visible side of PublicLogic. The method underneath is Institutional Stewardship.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PUBLICLOGIC LLC   ·   INSTITUTIONAL STEWARDSHIP THROUGH PROJECT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H   O   W       W   E       D   E   L   I   V   E   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Institutional Stewardship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07040" cy="137160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9728" cy="137160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1">
                <a:solidFill>
                  <a:srgbClr val="1A1D20"/>
                </a:solidFill>
                <a:latin typeface="Georgia"/>
              </a:rPr>
              <a:t>The deliberate practice of preserving, governing, transferring, and operationalizing organizational knowledge — so critical functions remain durable across turnover, changing priorities, and organizational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0F4C3A"/>
                </a:solidFill>
                <a:latin typeface="Helvetica Neue"/>
              </a:rPr>
              <a:t>This is not a slogan. It is an operating discipline.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D20"/>
                </a:solidFill>
                <a:latin typeface="Helvetica Neue"/>
              </a:rPr>
              <a:t>Every PublicLogic engagement applies Institutional Stewardship principles, regardless of project type.</a:t>
            </a:r>
          </a:p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1A1D20"/>
                </a:solidFill>
                <a:latin typeface="Helvetica Neue"/>
              </a:rPr>
              <a:t>Implementation is the service. Institutional Stewardship is the method. Both are true; neither is sacrificed for the other.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PUBLICLOGIC LLC   ·   INSTITUTIONAL STEWARDSHIP THROUGH PROJECT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C   O   R   E       S   E   R   V   I   C   E       L   I   N   E   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Three services. One discipline.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 i="0">
                <a:solidFill>
                  <a:srgbClr val="0F4C3A"/>
                </a:solidFill>
                <a:latin typeface="Helvetica Neue"/>
              </a:rPr>
              <a:t>Project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6B6660"/>
                </a:solidFill>
                <a:latin typeface="Helvetica Neue"/>
              </a:rPr>
              <a:t>Turn ideas and priorities into actionable projects.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3383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Project Charter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Scope Definition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Stakeholder Map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Readiness Assessment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Action 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32120"/>
            <a:ext cx="3383280" cy="548640"/>
          </a:xfrm>
          <a:prstGeom prst="rect">
            <a:avLst/>
          </a:prstGeom>
          <a:solidFill>
            <a:srgbClr val="E3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532120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1">
                <a:solidFill>
                  <a:srgbClr val="0F4C3A"/>
                </a:solidFill>
                <a:latin typeface="Helvetica Neue"/>
              </a:rPr>
              <a:t>Clarity before resources are committed.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 i="0">
                <a:solidFill>
                  <a:srgbClr val="0F4C3A"/>
                </a:solidFill>
                <a:latin typeface="Helvetica Neue"/>
              </a:rPr>
              <a:t>Funding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9456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6B6660"/>
                </a:solidFill>
                <a:latin typeface="Helvetica Neue"/>
              </a:rPr>
              <a:t>Identify, organize, and pursue sustainable funding.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26080"/>
            <a:ext cx="3383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Funding Scan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Funding Roadmap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Application Support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Capital Strategy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Partner Coordination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5532120"/>
            <a:ext cx="3383280" cy="548640"/>
          </a:xfrm>
          <a:prstGeom prst="rect">
            <a:avLst/>
          </a:prstGeom>
          <a:solidFill>
            <a:srgbClr val="E3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5532120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1">
                <a:solidFill>
                  <a:srgbClr val="0F4C3A"/>
                </a:solidFill>
                <a:latin typeface="Helvetica Neue"/>
              </a:rPr>
              <a:t>Align funding with long-term capacity.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7830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 i="0">
                <a:solidFill>
                  <a:srgbClr val="0F4C3A"/>
                </a:solidFill>
                <a:latin typeface="Helvetica Neue"/>
              </a:rPr>
              <a:t>Implementation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19456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6B6660"/>
                </a:solidFill>
                <a:latin typeface="Helvetica Neue"/>
              </a:rPr>
              <a:t>Move projects from planning into execution.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926080"/>
            <a:ext cx="3383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Implementation Framework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Accountability Structure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Progress Tracking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Facilitation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Stakeholder Coordination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5532120"/>
            <a:ext cx="3383280" cy="548640"/>
          </a:xfrm>
          <a:prstGeom prst="rect">
            <a:avLst/>
          </a:prstGeom>
          <a:solidFill>
            <a:srgbClr val="E3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5532120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1">
                <a:solidFill>
                  <a:srgbClr val="0F4C3A"/>
                </a:solidFill>
                <a:latin typeface="Helvetica Neue"/>
              </a:rPr>
              <a:t>Work survives beyond its initial champions.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T   H   E       M   O   D   E   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Institutional systems and human systems are interdependent.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Nathan — Institutional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Municipal administration, finance, capital planning, procurement.</a:t>
            </a:r>
          </a:p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Grants, economic development, governance, project delivery.</a:t>
            </a:r>
          </a:p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Town Administrator · City Councilor · Town Clerk · Consultant.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Allie — Human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286000"/>
            <a:ext cx="50292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Organizational readiness, stakeholder engagement, leadership development.</a:t>
            </a:r>
          </a:p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Program design, evaluation, behavioral systems, change management.</a:t>
            </a:r>
          </a:p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Clinical leadership · organizational consulting · workforce systems.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120640"/>
            <a:ext cx="10607040" cy="77724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120640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1">
                <a:solidFill>
                  <a:srgbClr val="F5F4F0"/>
                </a:solidFill>
                <a:latin typeface="Helvetica Neue"/>
              </a:rPr>
              <a:t>Most firms understand systems OR people. PublicLogic is designed to understand both — because projects fail when either side is ignored.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T   R   A   N   S   F   E   R       A   S   S   E   T   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Every project leaves the client more capable than before.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2057400" cy="219456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2057400" cy="914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4884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0F4C3A"/>
                </a:solidFill>
                <a:latin typeface="Helvetica Neue"/>
              </a:rPr>
              <a:t>LogicCommons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880360"/>
            <a:ext cx="1737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A1D20"/>
                </a:solidFill>
                <a:latin typeface="Helvetica Neue"/>
              </a:rPr>
              <a:t>Shared frameworks, templates, operational resources.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90088" y="1920240"/>
            <a:ext cx="2057400" cy="219456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90088" y="1920240"/>
            <a:ext cx="2057400" cy="914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214884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0F4C3A"/>
                </a:solidFill>
                <a:latin typeface="Helvetica Neue"/>
              </a:rPr>
              <a:t>Workbooks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880360"/>
            <a:ext cx="1737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A1D20"/>
                </a:solidFill>
                <a:latin typeface="Helvetica Neue"/>
              </a:rPr>
              <a:t>Structured implementation and planning guides.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02936" y="1920240"/>
            <a:ext cx="2057400" cy="219456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02936" y="1920240"/>
            <a:ext cx="2057400" cy="914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214884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0F4C3A"/>
                </a:solidFill>
                <a:latin typeface="Helvetica Neue"/>
              </a:rPr>
              <a:t>CaseSpaces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880360"/>
            <a:ext cx="1737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A1D20"/>
                </a:solidFill>
                <a:latin typeface="Helvetica Neue"/>
              </a:rPr>
              <a:t>Project-specific operating environments.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15784" y="1920240"/>
            <a:ext cx="2057400" cy="219456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15784" y="1920240"/>
            <a:ext cx="2057400" cy="914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0376" y="214884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0F4C3A"/>
                </a:solidFill>
                <a:latin typeface="Helvetica Neue"/>
              </a:rPr>
              <a:t>PuddleJumper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0376" y="2880360"/>
            <a:ext cx="1737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A1D20"/>
                </a:solidFill>
                <a:latin typeface="Helvetica Neue"/>
              </a:rPr>
              <a:t>Process architecture and workflow infrastructure.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28632" y="1920240"/>
            <a:ext cx="2057400" cy="219456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28632" y="1920240"/>
            <a:ext cx="2057400" cy="914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3224" y="214884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0F4C3A"/>
                </a:solidFill>
                <a:latin typeface="Helvetica Neue"/>
              </a:rPr>
              <a:t>VAULT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3224" y="2880360"/>
            <a:ext cx="1737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A1D20"/>
                </a:solidFill>
                <a:latin typeface="Helvetica Neue"/>
              </a:rPr>
              <a:t>Knowledge preservation and continuity framework.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572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0F4C3A"/>
                </a:solidFill>
                <a:latin typeface="Helvetica Neue"/>
              </a:rPr>
              <a:t>The success standard: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D20"/>
                </a:solidFill>
                <a:latin typeface="Helvetica Neue"/>
              </a:rPr>
              <a:t>A successful engagement reduces future dependency. The organization becomes more capable; the process more durable; the knowledge more accessible.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PUBLICLOGIC LLC   ·   INSTITUTIONAL STEWARDSHIP THROUGH PROJECT 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T   A   R   G   E   T       M   A   R   K   E   T   S       —       T   I   E   R      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Organizations that already have projects and budgets.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Regional Planning Agencies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Municipal implementation support, delivery capacity, community engagement.</a:t>
            </a:r>
          </a:p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CMRPC · MRPC · MVPC · Strafford RPC.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Engineering Firms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286000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Public-process support, funding narratives, municipal coordination.</a:t>
            </a:r>
          </a:p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Fuss &amp; O’Neill · Weston &amp; Sampson · Tighe &amp; Bond · BETA.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690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Municipal Consulting Firms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Capacity, specialized expertise, project support.</a:t>
            </a:r>
          </a:p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Community Paradigm and similar providers — subcontracting paths.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0690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Municipalities &amp; the Existing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526280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Temporary capacity, strategic initiatives, capital planning, funding.</a:t>
            </a:r>
          </a:p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Highest trust, shortest sales cycle.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PUBLICLOGIC LLC   ·   INSTITUTIONAL STEWARDSHIP THROUGH PROJECT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S   I   G   N   A   T   U   R   E       O   F   F   E   R   I   N   G   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Three ways to start.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3383280" cy="292608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83280" cy="118872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4C3A"/>
                </a:solidFill>
                <a:latin typeface="Helvetica Neue"/>
              </a:rPr>
              <a:t>Project Development Sprint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0896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D20"/>
                </a:solidFill>
                <a:latin typeface="Helvetica Neue"/>
              </a:rPr>
              <a:t>Move an idea into an actionable project.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343400"/>
            <a:ext cx="3383280" cy="502920"/>
          </a:xfrm>
          <a:prstGeom prst="rect">
            <a:avLst/>
          </a:prstGeom>
          <a:solidFill>
            <a:srgbClr val="E3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43400"/>
            <a:ext cx="3108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1">
                <a:solidFill>
                  <a:srgbClr val="0F4C3A"/>
                </a:solidFill>
                <a:latin typeface="Helvetica Neue"/>
              </a:rPr>
              <a:t>Output: Project Development Roadmap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3383280" cy="292608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3383280" cy="118872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19456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4C3A"/>
                </a:solidFill>
                <a:latin typeface="Helvetica Neue"/>
              </a:rPr>
              <a:t>Funding Strategy Sprint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10896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D20"/>
                </a:solidFill>
                <a:latin typeface="Helvetica Neue"/>
              </a:rPr>
              <a:t>Identify realistic funding pathways and readiness requirements.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4343400"/>
            <a:ext cx="3383280" cy="502920"/>
          </a:xfrm>
          <a:prstGeom prst="rect">
            <a:avLst/>
          </a:prstGeom>
          <a:solidFill>
            <a:srgbClr val="E3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343400"/>
            <a:ext cx="3108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1">
                <a:solidFill>
                  <a:srgbClr val="0F4C3A"/>
                </a:solidFill>
                <a:latin typeface="Helvetica Neue"/>
              </a:rPr>
              <a:t>Output: Funding Roadmap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920240"/>
            <a:ext cx="3383280" cy="292608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920240"/>
            <a:ext cx="3383280" cy="118872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19456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4C3A"/>
                </a:solidFill>
                <a:latin typeface="Helvetica Neue"/>
              </a:rPr>
              <a:t>Implementation Support Partnership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10896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D20"/>
                </a:solidFill>
                <a:latin typeface="Helvetica Neue"/>
              </a:rPr>
              <a:t>Provide coordination and stewardship capacity through implementation.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4343400"/>
            <a:ext cx="3383280" cy="502920"/>
          </a:xfrm>
          <a:prstGeom prst="rect">
            <a:avLst/>
          </a:prstGeom>
          <a:solidFill>
            <a:srgbClr val="E3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4343400"/>
            <a:ext cx="3108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1">
                <a:solidFill>
                  <a:srgbClr val="0F4C3A"/>
                </a:solidFill>
                <a:latin typeface="Helvetica Neue"/>
              </a:rPr>
              <a:t>Output: Implementation Framework + Accountability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L   E   S   S   O   N   S       L   E   A   R   N   E   D       ·       A   I       F   O   R       I   M   P   A   C   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People buy outcomes.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5120640" cy="237744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6B6660"/>
                </a:solidFill>
                <a:latin typeface="Helvetica Neue"/>
              </a:rPr>
              <a:t>WHAT WE THOUGHT THEY WANTED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A1D20"/>
                </a:solidFill>
                <a:latin typeface="Georgia"/>
              </a:rPr>
              <a:t>AI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A1D20"/>
                </a:solidFill>
                <a:latin typeface="Georgia"/>
              </a:rPr>
              <a:t>Innovation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A1D20"/>
                </a:solidFill>
                <a:latin typeface="Georgia"/>
              </a:rPr>
              <a:t>Readiness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A1D20"/>
                </a:solidFill>
                <a:latin typeface="Georgia"/>
              </a:rPr>
              <a:t>Transformation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920240"/>
            <a:ext cx="5029200" cy="237744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CFC9BE"/>
                </a:solidFill>
                <a:latin typeface="Helvetica Neue"/>
              </a:rPr>
              <a:t>WHAT THEY ACTUALLY WANT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60320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5F4F0"/>
                </a:solidFill>
                <a:latin typeface="Georgia"/>
              </a:rPr>
              <a:t>Capacity</a:t>
            </a:r>
          </a:p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5F4F0"/>
                </a:solidFill>
                <a:latin typeface="Georgia"/>
              </a:rPr>
              <a:t>Funding</a:t>
            </a:r>
          </a:p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5F4F0"/>
                </a:solidFill>
                <a:latin typeface="Georgia"/>
              </a:rPr>
              <a:t>Progress</a:t>
            </a:r>
          </a:p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5F4F0"/>
                </a:solidFill>
                <a:latin typeface="Georgia"/>
              </a:rPr>
              <a:t>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1">
                <a:solidFill>
                  <a:srgbClr val="A9772F"/>
                </a:solidFill>
                <a:latin typeface="Helvetica Neue"/>
              </a:rPr>
              <a:t>The methodology matters. But outcomes drive the purchasing decision. Lead with the known problem — not a hidden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PUBLICLOGIC LLC   ·   INSTITUTIONAL STEWARDSHIP THROUGH PROJECT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194560"/>
            <a:ext cx="100584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T   H   E       P   R   O   M   I   S  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5F4F0"/>
                </a:solidFill>
                <a:latin typeface="Georgia"/>
              </a:rPr>
              <a:t>We move important projects from planning to implementation —</a:t>
            </a:r>
          </a:p>
          <a:p>
            <a:pPr algn="l">
              <a:lnSpc>
                <a:spcPct val="108000"/>
              </a:lnSpc>
            </a:pPr>
            <a:r>
              <a:rPr sz="2800" b="0" i="1">
                <a:solidFill>
                  <a:srgbClr val="A9772F"/>
                </a:solidFill>
                <a:latin typeface="Georgia"/>
              </a:rPr>
              <a:t>and keep the knowledge, systems, and structures that sustain them intact.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576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DCD7CD"/>
                </a:solidFill>
                <a:latin typeface="Helvetica Neue"/>
              </a:rPr>
              <a:t>PublicLogic helps communities and mission-driven organizations move important projects from planning to implementation. We do this through Institutional Stewardship — preserving, governing, transferring, and operationalizing the knowledge required for long-term success.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394960"/>
            <a:ext cx="10607040" cy="77724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394960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1">
                <a:solidFill>
                  <a:srgbClr val="F5F4F0"/>
                </a:solidFill>
                <a:latin typeface="Helvetica Neue"/>
              </a:rPr>
              <a:t>The market buys project delivery. PublicLogic delivers Institutional Stewardship. Both statements are true; neither is sacrificed for the other.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