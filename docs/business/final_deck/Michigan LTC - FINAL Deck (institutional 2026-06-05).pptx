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69880" y="0"/>
            <a:ext cx="1719072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2926080"/>
            <a:ext cx="17190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0" i="1">
                <a:solidFill>
                  <a:srgbClr val="CFC9BE"/>
                </a:solidFill>
                <a:latin typeface="Georgia"/>
              </a:rPr>
              <a:t>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P   L   A   T   F   O   R   M       P   O   S   I   T   I   O   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0584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9418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5F4F0"/>
                </a:solidFill>
                <a:latin typeface="Georgia"/>
              </a:rPr>
              <a:t>MICHIGAN LTC NETWORK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0" i="1">
                <a:solidFill>
                  <a:srgbClr val="A9772F"/>
                </a:solidFill>
                <a:latin typeface="Georgia"/>
              </a:rPr>
              <a:t>A Circular-Industrial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F5F4F0"/>
                </a:solidFill>
                <a:latin typeface="Georgia"/>
              </a:rPr>
              <a:t>“We don’t process waste. We upgrade stranded material.”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937760"/>
            <a:ext cx="2148840" cy="50292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 i="0">
                <a:solidFill>
                  <a:srgbClr val="F5F4F0"/>
                </a:solidFill>
                <a:latin typeface="Helvetica Neue"/>
              </a:rPr>
              <a:t>Carbon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4937760"/>
            <a:ext cx="2148840" cy="50292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49377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 i="0">
                <a:solidFill>
                  <a:srgbClr val="F5F4F0"/>
                </a:solidFill>
                <a:latin typeface="Helvetica Neue"/>
              </a:rPr>
              <a:t>Capital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4937760"/>
            <a:ext cx="2148840" cy="50292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49377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 i="0">
                <a:solidFill>
                  <a:srgbClr val="F5F4F0"/>
                </a:solidFill>
                <a:latin typeface="Helvetica Neue"/>
              </a:rPr>
              <a:t>Community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937760"/>
            <a:ext cx="2148840" cy="50292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93776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 i="0">
                <a:solidFill>
                  <a:srgbClr val="F5F4F0"/>
                </a:solidFill>
                <a:latin typeface="Helvetica Neue"/>
              </a:rPr>
              <a:t>Continuity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Private &amp; Confidential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B9B3A8"/>
                </a:solidFill>
                <a:latin typeface="Helvetica Neue"/>
              </a:rPr>
              <a:t>For accredited-investor diligence only. Subject to definitive documentation and securities-counsel review. Base figures reconciled to a single source of truth; RIN/§45Z/SAF credits are contingent and excluded from the base case. Technology used under license.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S   T   R   A   T   E   G   I   C       P   I   V   O   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Asset Conversion over Waste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The Massive Regional 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Millions of tons of tires, treated wood, and biomass sit stranded in regional supply chains.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Traditional recycling breaks down under the volume and negative unit economics.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1828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The Material Upgrade Pivot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2304288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We co-locate directly with the industrial hosts who already control the material.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We convert raw physical liabilities into higher-value energy and recovered carbon.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288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Commercial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4424" y="2304288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Shorter path to revenue execution.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Radically lowered host infrastructure risk.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A repeatable state-by-state model under one common governance spine.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B   U   I   L   D   I   N   G       A       R   E   S   I   L   I   E   N   T       S   Y   S   T   E   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A Networked Platform, Not a Single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A9772F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Partner, Don’t Compete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90088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Site alongside operators who already aggregate feedstock.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Create an immediate, profitable new revenue line for them.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Secure accelerated site control, logistics, and permitting.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A9772F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146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A Network, Not a Plant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90088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A state-by-state model built on pre-existing industrial infrastructure.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De-risks each subsequent site and compresses time-to-market.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A9772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1460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Governance as the Spine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990088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Risk ring-fenced and isolated at the site level via dedicated SPVs.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Intelligence, compliance, and replication scale at the parent level.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M   I   C   H   I   G   A   N       C   O   R   R   I   D   O   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Three Active Nodes. One Repeatable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200400" cy="9144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10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 i="0">
                <a:solidFill>
                  <a:srgbClr val="F5F4F0"/>
                </a:solidFill>
                <a:latin typeface="Helvetica Neue"/>
              </a:rPr>
              <a:t>Flint / Dort Hwy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9514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0" i="1">
                <a:solidFill>
                  <a:srgbClr val="CFC9BE"/>
                </a:solidFill>
                <a:latin typeface="Helvetica Neue"/>
              </a:rPr>
              <a:t>EJ Anchor Node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32504" y="2148840"/>
            <a:ext cx="457200" cy="201168"/>
          </a:xfrm>
          <a:prstGeom prst="rightArrow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44568" y="1783080"/>
            <a:ext cx="3200400" cy="9144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110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 i="0">
                <a:solidFill>
                  <a:srgbClr val="F5F4F0"/>
                </a:solidFill>
                <a:latin typeface="Helvetica Neue"/>
              </a:rPr>
              <a:t>Coleman / Midland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9514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0" i="1">
                <a:solidFill>
                  <a:srgbClr val="CFC9BE"/>
                </a:solidFill>
                <a:latin typeface="Helvetica Neue"/>
              </a:rPr>
              <a:t>Replication Template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99832" y="2148840"/>
            <a:ext cx="457200" cy="201168"/>
          </a:xfrm>
          <a:prstGeom prst="rightArrow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11896" y="1783080"/>
            <a:ext cx="3200400" cy="914400"/>
          </a:xfrm>
          <a:prstGeom prst="rect">
            <a:avLst/>
          </a:prstGeom>
          <a:solidFill>
            <a:srgbClr val="1A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9110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 i="0">
                <a:solidFill>
                  <a:srgbClr val="F5F4F0"/>
                </a:solidFill>
                <a:latin typeface="Helvetica Neue"/>
              </a:rPr>
              <a:t>Coldwater Road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29514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050" b="0" i="1">
                <a:solidFill>
                  <a:srgbClr val="CFC9BE"/>
                </a:solidFill>
                <a:latin typeface="Helvetica Neue"/>
              </a:rPr>
              <a:t>Phase 2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Node 01 · Flint / Dort Highway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38728"/>
            <a:ext cx="3291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00" b="0" i="0">
                <a:solidFill>
                  <a:srgbClr val="1A1D20"/>
                </a:solidFill>
                <a:latin typeface="Helvetica Neue"/>
              </a:rPr>
              <a:t>14-acre brownfield co-located with Environmental Rubber Recycling (ERR).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00" b="0" i="0">
                <a:solidFill>
                  <a:srgbClr val="1A1D20"/>
                </a:solidFill>
                <a:latin typeface="Helvetica Neue"/>
              </a:rPr>
              <a:t>~40,000 tons/yr qualified waste-tire supply under a 10-year arrangement.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00" b="0" i="0">
                <a:solidFill>
                  <a:srgbClr val="1A1D20"/>
                </a:solidFill>
                <a:latin typeface="Helvetica Neue"/>
              </a:rPr>
              <a:t>The corridor’s environmental-justice and brownfield anchor.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Node 02 · Coleman / Midland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538728"/>
            <a:ext cx="3291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00" b="0" i="0">
                <a:solidFill>
                  <a:srgbClr val="1A1D20"/>
                </a:solidFill>
                <a:latin typeface="Helvetica Neue"/>
              </a:rPr>
              <a:t>Rural co-location with Geocycle, an active Part 169-registered facility.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00" b="0" i="0">
                <a:solidFill>
                  <a:srgbClr val="1A1D20"/>
                </a:solidFill>
                <a:latin typeface="Helvetica Neue"/>
              </a:rPr>
              <a:t>~22,000 tons/yr existing tire-derived throughput.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00" b="0" i="0">
                <a:solidFill>
                  <a:srgbClr val="1A1D20"/>
                </a:solidFill>
                <a:latin typeface="Helvetica Neue"/>
              </a:rPr>
              <a:t>The template for co-location and USDA-aligned rural financing.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06324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Node 03 · Coldwater Road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538728"/>
            <a:ext cx="3291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00" b="0" i="0">
                <a:solidFill>
                  <a:srgbClr val="1A1D20"/>
                </a:solidFill>
                <a:latin typeface="Helvetica Neue"/>
              </a:rPr>
              <a:t>118.3-acre rail-served hub; 4,570 ft of Lake State Railway frontage.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00" b="0" i="0">
                <a:solidFill>
                  <a:srgbClr val="1A1D20"/>
                </a:solidFill>
                <a:latin typeface="Helvetica Neue"/>
              </a:rPr>
              <a:t>Heavy industrial (I-2); EGLE No Further Action complete with controls.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00" b="0" i="0">
                <a:solidFill>
                  <a:srgbClr val="1A1D20"/>
                </a:solidFill>
                <a:latin typeface="Helvetica Neue"/>
              </a:rPr>
              <a:t>Held for Phase 2 large-scale logistics and regional scaling.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W   H   Y       M   I   C   H   I   G   A   N       W   I   N   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Geography and Structural Moats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Unmatched Feedstock Density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High regional concentration of automotive scrap, industrial byproducts, and agricultural / forestry residues.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Logistics and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04288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Pre-existing heavy rail, deep utilities, and a deep inventory of underutilized industrial brownfields.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Industrial Labor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44568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Immediate access to a manufacturing-ready workforce specialized in 24/7 process mechanics.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069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Ecosystem Synergy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544568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Multi-year relationships with dominant regional recyclers and hosts.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Active state support for circular transitions (NextCycle, EGLE).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O   P   E   R   A   T   I   O   N   A   L       F   L   O   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Controlled Intake to Local Value Creation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700784" cy="201168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700784" cy="109728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1426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A9772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1A1D20"/>
                </a:solidFill>
                <a:latin typeface="Helvetica Neue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6660"/>
                </a:solidFill>
                <a:latin typeface="Helvetica Neue"/>
              </a:rPr>
              <a:t>Qualify stream &amp; custody (host assets)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9736" y="2011680"/>
            <a:ext cx="1700784" cy="201168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9736" y="2011680"/>
            <a:ext cx="1700784" cy="109728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2267712"/>
            <a:ext cx="1426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A9772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88036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1A1D20"/>
                </a:solidFill>
                <a:latin typeface="Helvetica Neue"/>
              </a:rP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324612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6660"/>
                </a:solidFill>
                <a:latin typeface="Helvetica Neue"/>
              </a:rPr>
              <a:t>Sort, size, and stage feedstocks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9392" y="2011680"/>
            <a:ext cx="1700784" cy="201168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2011680"/>
            <a:ext cx="1700784" cy="109728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2267712"/>
            <a:ext cx="1426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A9772F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88036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1A1D20"/>
                </a:solidFill>
                <a:latin typeface="Helvetica Neue"/>
              </a:rPr>
              <a:t>Convert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4612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6660"/>
                </a:solidFill>
                <a:latin typeface="Helvetica Neue"/>
              </a:rPr>
              <a:t>Advanced pyrolysis: clean carbon &amp; 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9048" y="2011680"/>
            <a:ext cx="1700784" cy="201168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9048" y="2011680"/>
            <a:ext cx="1700784" cy="109728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267712"/>
            <a:ext cx="1426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A9772F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88036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1A1D20"/>
                </a:solidFill>
                <a:latin typeface="Helvetica Neue"/>
              </a:rPr>
              <a:t>Recover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24612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6660"/>
                </a:solidFill>
                <a:latin typeface="Helvetica Neue"/>
              </a:rPr>
              <a:t>Fuel + carbon product streams 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18704" y="2011680"/>
            <a:ext cx="1700784" cy="201168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18704" y="2011680"/>
            <a:ext cx="1700784" cy="109728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5864" y="2267712"/>
            <a:ext cx="1426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A9772F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288036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1A1D20"/>
                </a:solidFill>
                <a:latin typeface="Helvetica Neue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324612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6660"/>
                </a:solidFill>
                <a:latin typeface="Helvetica Neue"/>
              </a:rPr>
              <a:t>Test, certify, and reconcile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38360" y="2011680"/>
            <a:ext cx="1700784" cy="201168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38360" y="2011680"/>
            <a:ext cx="1700784" cy="109728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2267712"/>
            <a:ext cx="1426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 i="0">
                <a:solidFill>
                  <a:srgbClr val="A9772F"/>
                </a:solidFill>
                <a:latin typeface="Georgia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880360"/>
            <a:ext cx="14264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1A1D20"/>
                </a:solidFill>
                <a:latin typeface="Helvetica Neue"/>
              </a:rPr>
              <a:t>Reinvest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24612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B6660"/>
                </a:solidFill>
                <a:latin typeface="Helvetica Neue"/>
              </a:rPr>
              <a:t>Sell, report, and return value locally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6177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The operating standard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250" b="0" i="0">
                <a:solidFill>
                  <a:srgbClr val="1A1D20"/>
                </a:solidFill>
                <a:latin typeface="Helvetica Neue"/>
              </a:rPr>
              <a:t>Proceed with deployment only when feedstock stream, conversion technology, compliance evidence, target markets, and local community value are completely legible.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E   C   H   N   I   C   A   L       &amp;       O   P   E   R   A   T   I   O   N   A   L       G   U   A   R   D   R   A   I   L   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Proven Equipment. Honest Labor Realities.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Licensed Technology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7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Proprietary WasteWerx depolymerization systems under strict operating license.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Contained, safe process loops with favorable environmental discharge.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74519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Isolation of R&amp;D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50007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The platform is insulated from fundamental technology-development risk.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WasteWerx retains the IP; Michigan LTC monetizes the operating rights.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874519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Operator-Reality Staffing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350007"/>
            <a:ext cx="33832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We reject unrealistic automated “10-person” assumptions for heavy infrastructure.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A fully-costed 62-FTE local workforce per site for true, safe 24/7 uptime.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R   E   C   O   N   C   I   L   E   D       S   I   T   E       E   C   O   N   O   M   I   C   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We Bank What We Can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5120640" cy="1828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9728" cy="18288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0F4C3A"/>
                </a:solidFill>
                <a:latin typeface="Helvetica Neue"/>
              </a:rPr>
              <a:t>MODELED ANNUAL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800" b="1" i="0">
                <a:solidFill>
                  <a:srgbClr val="1A1D20"/>
                </a:solidFill>
                <a:latin typeface="Georgia"/>
              </a:rPr>
              <a:t>$16.88M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6660"/>
                </a:solidFill>
                <a:latin typeface="Helvetica Neue"/>
              </a:rPr>
              <a:t>Baseline of contractable physical commodities (fuel + recovered carbon), valued at conservative market.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120640" cy="1828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109728" cy="18288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0F4C3A"/>
                </a:solidFill>
                <a:latin typeface="Helvetica Neue"/>
              </a:rPr>
              <a:t>MODELED ANNUAL EBITDA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3172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800" b="1" i="0">
                <a:solidFill>
                  <a:srgbClr val="1A1D20"/>
                </a:solidFill>
                <a:latin typeface="Georgia"/>
              </a:rPr>
              <a:t>~$6.7M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6660"/>
                </a:solidFill>
                <a:latin typeface="Helvetica Neue"/>
              </a:rPr>
              <a:t>Reconciled against the operator-reality 62-FTE staffing floor and feedstock opex.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Strict underwriting disclaimers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00" b="1" i="0">
                <a:solidFill>
                  <a:srgbClr val="1A1D20"/>
                </a:solidFill>
                <a:latin typeface="Helvetica Neue"/>
              </a:rPr>
              <a:t>Recovered carbon:  </a:t>
            </a:r>
            <a:r>
              <a:rPr sz="1200" b="0" i="0">
                <a:solidFill>
                  <a:srgbClr val="1A1D20"/>
                </a:solidFill>
                <a:latin typeface="Helvetica Neue"/>
              </a:rPr>
              <a:t>the executed WasteWerx Pro Forma prices fuel only (carbon line at $0). The base values recovered carbon at conservative market and must be confirmed against a carbon offtake — treat as uncontracted until then.</a:t>
            </a:r>
          </a:p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2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00" b="1" i="0">
                <a:solidFill>
                  <a:srgbClr val="1A1D20"/>
                </a:solidFill>
                <a:latin typeface="Helvetica Neue"/>
              </a:rPr>
              <a:t>Environmental incentives:  </a:t>
            </a:r>
            <a:r>
              <a:rPr sz="1200" b="0" i="0">
                <a:solidFill>
                  <a:srgbClr val="1A1D20"/>
                </a:solidFill>
                <a:latin typeface="Helvetica Neue"/>
              </a:rPr>
              <a:t>all regulatory credits (RFS / D4 / D7 RINs, §45Z clean-fuel) are segregated from base-case returns and treated strictly as contingent, post-qualification upside (~$20.4M/yr).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W   H   A   T       E   X   I   S   T   S       T   O   D   A   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Diligence Readiness and Execution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Current Asset Posture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52120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Site control: co-location host arrangements established with ERR and Geocycle.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Feedstock footprint: ~62,000 tons/yr identified and documented across active nodes.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Environmental: EGLE No Further Action complete with controls on key corridor hubs.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Replication baseline: moved from legacy assumptions to line-by-line engineering budgets.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Remaining Risks &amp; Mitigants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04288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Permit sequencing — mitigated by co-locating on pre-permitted, industrial-zoned sites.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Deployment schedules — mitigated by modular, factory-tested licensed equipment.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Offtake finalization — advancing documented fuel offtake MOUs before commissioning.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P   U   B   L   I   C   L   O   G   I   C       G   O   V   E   R   N   A   N   C   E       I   N   F   R   A   S   T   R   U   C   T   U   R   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The Platform Integration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828800"/>
            <a:ext cx="4114800" cy="64008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82880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 i="0">
                <a:solidFill>
                  <a:srgbClr val="F5F4F0"/>
                </a:solidFill>
                <a:latin typeface="Helvetica Neue"/>
              </a:rPr>
              <a:t>PUBLICLOGIC COMPLIANCE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834640"/>
            <a:ext cx="4023360" cy="1828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4480" y="2834640"/>
            <a:ext cx="402336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Governance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7472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00" b="0" i="0">
                <a:solidFill>
                  <a:srgbClr val="1A1D20"/>
                </a:solidFill>
                <a:latin typeface="Helvetica Neue"/>
              </a:rPr>
              <a:t>State SPV ring-fencing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00" b="0" i="0">
                <a:solidFill>
                  <a:srgbClr val="1A1D20"/>
                </a:solidFill>
                <a:latin typeface="Helvetica Neue"/>
              </a:rPr>
              <a:t>Replication playbooks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00" b="0" i="0">
                <a:solidFill>
                  <a:srgbClr val="1A1D20"/>
                </a:solidFill>
                <a:latin typeface="Helvetica Neue"/>
              </a:rPr>
              <a:t>Continuity controls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834640"/>
            <a:ext cx="4023360" cy="1828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834640"/>
            <a:ext cx="402336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017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Evidence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47472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00" b="0" i="0">
                <a:solidFill>
                  <a:srgbClr val="1A1D20"/>
                </a:solidFill>
                <a:latin typeface="Helvetica Neue"/>
              </a:rPr>
              <a:t>Audit-ready records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00" b="0" i="0">
                <a:solidFill>
                  <a:srgbClr val="1A1D20"/>
                </a:solidFill>
                <a:latin typeface="Helvetica Neue"/>
              </a:rPr>
              <a:t>Cost allowability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00" b="0" i="0">
                <a:solidFill>
                  <a:srgbClr val="1A1D20"/>
                </a:solidFill>
                <a:latin typeface="Helvetica Neue"/>
              </a:rPr>
              <a:t>Grant-stack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A1D20"/>
                </a:solidFill>
                <a:latin typeface="Helvetica Neue"/>
              </a:rPr>
              <a:t>PublicLogic provides the institutional spine — governance, documentation, non-dilutive grant-stack coordination, and compliance continuity. The platform scales state-by-state because the operating system is built on standardized, auditable evidence. PublicLogic is the governance partner, not a placement agent; its fee is fixed and non-contingent.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C   O   M   M   U   N   I   T   Y   -   E   M   B   E   D   D   E   D       D   E   S   I   G   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The Return Circulates Locally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The Structural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04288"/>
            <a:ext cx="106070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A contractual 10% share of net profit at each operating site is directed to locally governed community development — encoded in the operating agreements, not treated as afterthought philanthropy.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The Warehouse / Gen 215 · Flint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67328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Secure community infrastructure, family support networks, and localized urban food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2918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ACS Cooperative Partnership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767328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High-density aquaponic programming and tech-workforce training linked to university research.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6B6660"/>
                </a:solidFill>
                <a:latin typeface="Helvetica Neue"/>
              </a:rPr>
              <a:t>Note: community-benefit basis (% of net profit vs % of equity) and any housing/PUD mechanism are pending reconciliation before publication.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I   N   S   T   I   T   U   T   I   O   N   A   L       A   S   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Two Tranches. One Disciplined Capital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3474720" cy="31089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474720" cy="118872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0F4C3A"/>
                </a:solidFill>
                <a:latin typeface="Helvetica Neue"/>
              </a:rPr>
              <a:t>PROJECT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$45,000,000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$15,000,000 per site ×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1188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660"/>
                </a:solidFill>
                <a:latin typeface="Helvetica Neue"/>
              </a:rPr>
              <a:t>Site prep, core hardware, integration, and site-level commissioning.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474720" cy="31089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3474720" cy="118872"/>
          </a:xfrm>
          <a:prstGeom prst="rect">
            <a:avLst/>
          </a:prstGeom>
          <a:solidFill>
            <a:srgbClr val="1A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057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0F4C3A"/>
                </a:solidFill>
                <a:latin typeface="Helvetica Neue"/>
              </a:rPr>
              <a:t>CORPORATE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2316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$2,500,000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00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Parent holdco equity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1188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660"/>
                </a:solidFill>
                <a:latin typeface="Helvetica Neue"/>
              </a:rPr>
              <a:t>Governance, replication/IP architecture, multi-state BD, diligence &amp; legal readiness. Allocations set before definitive docs.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828800"/>
            <a:ext cx="3474720" cy="31089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828800"/>
            <a:ext cx="3474720" cy="118872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057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GRANT-STACK COORDINATION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42316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$4M–$14M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2004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Non-dilutive offsets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61188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660"/>
                </a:solidFill>
                <a:latin typeface="Helvetica Neue"/>
              </a:rPr>
              <a:t>NextCycle MI, USDA REAP, EPA Brownfield lanes — de-risking early private equity. Distinct from the securities offering.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00" b="0" i="1">
                <a:solidFill>
                  <a:srgbClr val="6B6660"/>
                </a:solidFill>
                <a:latin typeface="Helvetica Neue"/>
              </a:rPr>
              <a:t>Company raise is presented as a distinct ask and is never blended into site totals. Use-of-funds and return structure subject to securities-counsel review.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194560"/>
            <a:ext cx="100584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F5F4F0"/>
                </a:solidFill>
                <a:latin typeface="Georgia"/>
              </a:rPr>
              <a:t>The Governance Is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1">
                <a:solidFill>
                  <a:srgbClr val="F5F4F0"/>
                </a:solidFill>
                <a:latin typeface="Georgia"/>
              </a:rPr>
              <a:t>“We close like an institutional process. We distinguish — out loud — between what is real, what is advanced, and what is still being locked. The base case is supported by modeled throughput. The upside is highly disciplined.”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MICHIGAN LTC NETWORK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1" i="0">
                <a:solidFill>
                  <a:srgbClr val="A9772F"/>
                </a:solidFill>
                <a:latin typeface="Helvetica Neue"/>
              </a:rPr>
              <a:t>Carbon  ·  Capital  ·  Community  ·  Continuity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A   P   P   E   N   D   I   X       —       B   A   S   I   S       O   F       R   E   C   O   R   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Data Room Line-for-Line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0" i="1">
                <a:solidFill>
                  <a:srgbClr val="0F4C3A"/>
                </a:solidFill>
                <a:latin typeface="Georgia"/>
              </a:rPr>
              <a:t>“Every figure is a signed-document value or a formula over one.”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377440"/>
          <a:ext cx="10607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212080"/>
                <a:gridCol w="22860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F4F0"/>
                          </a:solidFill>
                          <a:latin typeface="Helvetica Neue"/>
                        </a:rPr>
                        <a:t>Core Parameter</a:t>
                      </a:r>
                    </a:p>
                  </a:txBody>
                  <a:tcPr>
                    <a:solidFill>
                      <a:srgbClr val="1A1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F4F0"/>
                          </a:solidFill>
                          <a:latin typeface="Helvetica Neue"/>
                        </a:rPr>
                        <a:t>Documented Source Baseline</a:t>
                      </a:r>
                    </a:p>
                  </a:txBody>
                  <a:tcPr>
                    <a:solidFill>
                      <a:srgbClr val="1A1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5F4F0"/>
                          </a:solidFill>
                          <a:latin typeface="Helvetica Neue"/>
                        </a:rPr>
                        <a:t>Source ID</a:t>
                      </a:r>
                    </a:p>
                  </a:txBody>
                  <a:tcPr>
                    <a:solidFill>
                      <a:srgbClr val="1A1D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Revenue projections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WasteWerx Model 3 License Pro Forma P&amp;L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4C3A"/>
                          </a:solidFill>
                          <a:latin typeface="Helvetica Neue"/>
                        </a:rPr>
                        <a:t>SRC-003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Capital budgets</a:t>
                      </a:r>
                    </a:p>
                  </a:txBody>
                  <a:tcPr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Site development budget &amp; vendor cost build-up</a:t>
                      </a:r>
                    </a:p>
                  </a:txBody>
                  <a:tcPr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4C3A"/>
                          </a:solidFill>
                          <a:latin typeface="Helvetica Neue"/>
                        </a:rPr>
                        <a:t>Investor Workbook v2.0</a:t>
                      </a:r>
                    </a:p>
                  </a:txBody>
                  <a:tcPr>
                    <a:solidFill>
                      <a:srgbClr val="ECEA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Staffing &amp; local opex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Operator-reality 62-FTE site staffing model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4C3A"/>
                          </a:solidFill>
                          <a:latin typeface="Helvetica Neue"/>
                        </a:rPr>
                        <a:t>SRC-001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Grant underwriting</a:t>
                      </a:r>
                    </a:p>
                  </a:txBody>
                  <a:tcPr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Published agency program guidance (EGLE / USDA)</a:t>
                      </a:r>
                    </a:p>
                  </a:txBody>
                  <a:tcPr>
                    <a:solidFill>
                      <a:srgbClr val="ECEA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4C3A"/>
                          </a:solidFill>
                          <a:latin typeface="Helvetica Neue"/>
                        </a:rPr>
                        <a:t>SRC-002</a:t>
                      </a:r>
                    </a:p>
                  </a:txBody>
                  <a:tcPr>
                    <a:solidFill>
                      <a:srgbClr val="ECEAE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Governance architecture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0"/>
                          </a:solidFill>
                          <a:latin typeface="Helvetica Neue"/>
                        </a:rPr>
                        <a:t>PublicLogic cyclical-services control framework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4C3A"/>
                          </a:solidFill>
                          <a:latin typeface="Helvetica Neue"/>
                        </a:rPr>
                        <a:t>PL-Model-2026</a:t>
                      </a:r>
                    </a:p>
                  </a:txBody>
                  <a:tcPr>
                    <a:solidFill>
                      <a:srgbClr val="F5F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MICHIGAN LTC NETWORK   ·   PRIVATE &amp; CONFIDENTIAL   ·   ACCREDITED-INVESTOR DILIGENCE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