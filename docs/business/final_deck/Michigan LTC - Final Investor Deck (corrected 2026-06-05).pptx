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private nature of the package. This is not the EGLE/public grant set. Michigan LTC is framed as the first operating node in a repeatable state-network platform.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planning transcript language directly: material upgraders, not recyclers. The point is strategic — Michigan LTC adds a new business line to existing operators.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in investor terms: stranded inputs, stranded sites, and weak execution discipline. Governance is part of the answer, not an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reflects the weekend restructuring direction. Investors should see a platform company that can replicate, not a one-off Michigan vehicle.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should orient the investor before site-specific detail. Note the explicit source conflict: current EGLE files use Lincoln + Flint + Coleman and treat Coldwater as Phase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Coldwater is the strongest physical hub story in the source set. The diligence gate is whether it is active for the current raise and whether the restrictive covenant supports the intended use.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Dort is the most investor-readable co-location case in the active regulatory source set: existing recycler, brownfield redevelopment, feedstock story, and community-benefit posture.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Coleman is the cleanest host-infrastructure story in the file set. It shows how the model can be attached to a functioning industrial surface and then copied.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Lincoln is a strong rural transition case, but it complicates the deck if the active three-site story has shifted to Coldwater + Flint + Coleman.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about the IP guardrail. Investors need to understand the commercial structure without exposing proprietary technology detail.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deck has to stay disciplined. Feedstock is better documented than offtake. Do not collapse supplier, host, logistics, and buyer roles into one another.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should build confidence by showing the old EM&amp;S numbers have been replaced, while also clearly labeling what remains incentive-dependent, excluded, or still awaiting staffing-model 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as platform logic, not hype. Note that corridor headcount in the current integrated model now needs reconciliation against the new single-site WasteWerx staffing pro forma.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grant mapping in the deck, but distinguish clearly between corridor-planning lanes, site-specific diligence lanes, and operating-stage incentive value. MHCC should be marked paused.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community model as governed structure, not charity. The exact percentage stays bracketed until it is reconciled.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management from support roles. Acadia is advisory/capital-strategy validation in the files, not committed financing. PublicLogic is continuity and stewardship systems.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separation unmistakable. Site capital belongs to site deployment. Corporate capital belongs to the platform company. Also note the rough sponsor uses exceed the target raise and the new staffing file needs to be mapped into the payroll/training line.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like an institutional process, not a pitch contest. Emphasize that the team knows what is real, what is advanced, and what still needs to be locked.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41F"/>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8961120" cy="1280160"/>
          </a:xfrm>
          <a:prstGeom prst="rect">
            <a:avLst/>
          </a:prstGeom>
          <a:noFill/>
        </p:spPr>
        <p:txBody>
          <a:bodyPr wrap="none">
            <a:spAutoFit/>
          </a:bodyPr>
          <a:lstStyle/>
          <a:p>
            <a:pPr>
              <a:defRPr sz="2800" b="1">
                <a:solidFill>
                  <a:srgbClr val="F5F7FA"/>
                </a:solidFill>
              </a:defRPr>
            </a:pPr>
            <a:r>
              <a:t>Michigan LTC Network</a:t>
            </a:r>
          </a:p>
          <a:p>
            <a:pPr>
              <a:defRPr sz="1800">
                <a:solidFill>
                  <a:srgbClr val="D9AF6B"/>
                </a:solidFill>
              </a:defRPr>
            </a:pPr>
            <a:r>
              <a:t>Private Investor Deck</a:t>
            </a:r>
          </a:p>
          <a:p>
            <a:pPr>
              <a:defRPr sz="2000" b="1">
                <a:solidFill>
                  <a:srgbClr val="F5F7FA"/>
                </a:solidFill>
              </a:defRPr>
            </a:pPr>
            <a:r>
              <a:t>Carbon to Capital to Community to Continuity.</a:t>
            </a:r>
          </a:p>
        </p:txBody>
      </p:sp>
      <p:sp>
        <p:nvSpPr>
          <p:cNvPr id="4" name="Rounded Rectangle 3"/>
          <p:cNvSpPr/>
          <p:nvPr/>
        </p:nvSpPr>
        <p:spPr>
          <a:xfrm>
            <a:off x="731520" y="2560320"/>
            <a:ext cx="5212080" cy="1508760"/>
          </a:xfrm>
          <a:prstGeom prst="roundRect">
            <a:avLst/>
          </a:prstGeom>
          <a:solidFill>
            <a:srgbClr val="182434"/>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Transaction framing</a:t>
            </a:r>
          </a:p>
          <a:p>
            <a:pPr>
              <a:defRPr sz="1100">
                <a:solidFill>
                  <a:srgbClr val="F5F7FA"/>
                </a:solidFill>
              </a:defRPr>
            </a:pPr>
            <a:r>
              <a:t>Parent holdco above state SPVs; Michigan LTC Network is presented as the first operating state node. Licensed WasteWerx technology. Three Michigan site raises plus a separate company raise.</a:t>
            </a:r>
          </a:p>
        </p:txBody>
      </p:sp>
      <p:sp>
        <p:nvSpPr>
          <p:cNvPr id="5" name="Rounded Rectangle 4"/>
          <p:cNvSpPr/>
          <p:nvPr/>
        </p:nvSpPr>
        <p:spPr>
          <a:xfrm>
            <a:off x="6172200" y="2560320"/>
            <a:ext cx="5303520" cy="1508760"/>
          </a:xfrm>
          <a:prstGeom prst="roundRect">
            <a:avLst/>
          </a:prstGeom>
          <a:solidFill>
            <a:srgbClr val="182434"/>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Private-use disclaimer</a:t>
            </a:r>
          </a:p>
          <a:p>
            <a:pPr>
              <a:defRPr sz="1100">
                <a:solidFill>
                  <a:srgbClr val="F5F7FA"/>
                </a:solidFill>
              </a:defRPr>
            </a:pPr>
            <a:r>
              <a:t>This is not an offer to sell or a solicitation to buy securities. For accredited-investor diligence only. Subject to definitive documentation, securities-counsel review, and confirmation of bracketed items.</a:t>
            </a:r>
          </a:p>
        </p:txBody>
      </p:sp>
      <p:sp>
        <p:nvSpPr>
          <p:cNvPr id="6" name="Rounded Rectangle 5"/>
          <p:cNvSpPr/>
          <p:nvPr/>
        </p:nvSpPr>
        <p:spPr>
          <a:xfrm>
            <a:off x="731520" y="4480560"/>
            <a:ext cx="3840480" cy="1143000"/>
          </a:xfrm>
          <a:prstGeom prst="roundRect">
            <a:avLst/>
          </a:prstGeom>
          <a:solidFill>
            <a:srgbClr val="121C2A"/>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Raises</a:t>
            </a:r>
          </a:p>
          <a:p>
            <a:pPr>
              <a:defRPr sz="1100">
                <a:solidFill>
                  <a:srgbClr val="F5F7FA"/>
                </a:solidFill>
              </a:defRPr>
            </a:pPr>
            <a:r>
              <a:t>$15,000,000 per site x 3 Michigan sites</a:t>
            </a:r>
            <a:br/>
            <a:r>
              <a:t>$2,500,000 separate company-level raise</a:t>
            </a:r>
          </a:p>
        </p:txBody>
      </p:sp>
      <p:sp>
        <p:nvSpPr>
          <p:cNvPr id="7" name="Rounded Rectangle 6"/>
          <p:cNvSpPr/>
          <p:nvPr/>
        </p:nvSpPr>
        <p:spPr>
          <a:xfrm>
            <a:off x="4800600" y="4480560"/>
            <a:ext cx="3657600" cy="1143000"/>
          </a:xfrm>
          <a:prstGeom prst="roundRect">
            <a:avLst/>
          </a:prstGeom>
          <a:solidFill>
            <a:srgbClr val="121C2A"/>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Controls</a:t>
            </a:r>
          </a:p>
          <a:p>
            <a:pPr>
              <a:defRPr sz="1100">
                <a:solidFill>
                  <a:srgbClr val="F5F7FA"/>
                </a:solidFill>
              </a:defRPr>
            </a:pPr>
            <a:r>
              <a:t>Every unresolved item stays marked [CONFIRM]. WasteWerx IP remains protected. This deck stays separate from EGLE/public grant materials.</a:t>
            </a:r>
          </a:p>
        </p:txBody>
      </p:sp>
      <p:sp>
        <p:nvSpPr>
          <p:cNvPr id="8" name="Rounded Rectangle 7"/>
          <p:cNvSpPr/>
          <p:nvPr/>
        </p:nvSpPr>
        <p:spPr>
          <a:xfrm>
            <a:off x="8732520" y="4480560"/>
            <a:ext cx="2743200" cy="1143000"/>
          </a:xfrm>
          <a:prstGeom prst="roundRect">
            <a:avLst/>
          </a:prstGeom>
          <a:solidFill>
            <a:srgbClr val="121C2A"/>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Current officer slate</a:t>
            </a:r>
          </a:p>
          <a:p>
            <a:pPr>
              <a:defRPr sz="1100">
                <a:solidFill>
                  <a:srgbClr val="F5F7FA"/>
                </a:solidFill>
              </a:defRPr>
            </a:pPr>
            <a:r>
              <a:t>Robert C. McCall Jr. — President</a:t>
            </a:r>
            <a:br/>
            <a:r>
              <a:t>Glen Scharer — Vice President</a:t>
            </a:r>
            <a:br/>
            <a:r>
              <a:t>Garrett Schopp — Secretary/Treasurer</a:t>
            </a:r>
          </a:p>
        </p:txBody>
      </p:sp>
      <p:sp>
        <p:nvSpPr>
          <p:cNvPr id="9" name="Rounded Rectangle 8"/>
          <p:cNvSpPr/>
          <p:nvPr/>
        </p:nvSpPr>
        <p:spPr>
          <a:xfrm>
            <a:off x="6400800" y="5486400"/>
            <a:ext cx="5212080" cy="566928"/>
          </a:xfrm>
          <a:prstGeom prst="roundRect">
            <a:avLst/>
          </a:prstGeom>
          <a:solidFill>
            <a:srgbClr val="481818"/>
          </a:solidFill>
          <a:ln>
            <a:solidFill>
              <a:srgbClr val="E05F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E4E4"/>
                </a:solidFill>
              </a:defRPr>
            </a:pPr>
            <a:r>
              <a:t>[CONFIRM] Parent holdco legal name and National Salvage headquarters address for cover page.</a:t>
            </a:r>
          </a:p>
        </p:txBody>
      </p:sp>
      <p:sp>
        <p:nvSpPr>
          <p:cNvPr id="10" name="Rectangle 9"/>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12" name="TextBox 11"/>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41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lgn="l">
              <a:defRPr sz="2400" b="1">
                <a:solidFill>
                  <a:srgbClr val="F5F7FA"/>
                </a:solidFill>
              </a:defRPr>
            </a:pPr>
            <a:r>
              <a:t>We are not recyclers. We are material upgraders.</a:t>
            </a:r>
          </a:p>
        </p:txBody>
      </p:sp>
      <p:sp>
        <p:nvSpPr>
          <p:cNvPr id="3" name="TextBox 2"/>
          <p:cNvSpPr txBox="1"/>
          <p:nvPr/>
        </p:nvSpPr>
        <p:spPr>
          <a:xfrm>
            <a:off x="731520" y="1371600"/>
            <a:ext cx="5394960" cy="4389120"/>
          </a:xfrm>
          <a:prstGeom prst="rect">
            <a:avLst/>
          </a:prstGeom>
          <a:noFill/>
        </p:spPr>
        <p:txBody>
          <a:bodyPr wrap="square" lIns="101600" rIns="76200" tIns="76200">
            <a:spAutoFit/>
          </a:bodyPr>
          <a:lstStyle/>
          <a:p>
            <a:pPr>
              <a:spcAft>
                <a:spcPts val="1000"/>
              </a:spcAft>
              <a:defRPr sz="1800">
                <a:solidFill>
                  <a:srgbClr val="F5F7FA"/>
                </a:solidFill>
              </a:defRPr>
            </a:pPr>
            <a:r>
              <a:t>Michigan LTC co-locates with existing recyclers and upgrades raw waste streams into higher-value fuel and material outputs under a licensed technology model.</a:t>
            </a:r>
          </a:p>
          <a:p>
            <a:pPr>
              <a:spcAft>
                <a:spcPts val="1000"/>
              </a:spcAft>
              <a:defRPr sz="1800">
                <a:solidFill>
                  <a:srgbClr val="F5F7FA"/>
                </a:solidFill>
              </a:defRPr>
            </a:pPr>
            <a:r>
              <a:t>The operating thesis is sustainable flow: controlled feedstock in, contained processing, multiple saleable outputs out, and governed evidence that supports replication.</a:t>
            </a:r>
          </a:p>
          <a:p>
            <a:pPr>
              <a:spcAft>
                <a:spcPts val="1000"/>
              </a:spcAft>
              <a:defRPr sz="1800">
                <a:solidFill>
                  <a:srgbClr val="F5F7FA"/>
                </a:solidFill>
              </a:defRPr>
            </a:pPr>
            <a:r>
              <a:t>The investment case is a repeatable operating pattern, not a one-off plant story.</a:t>
            </a:r>
          </a:p>
        </p:txBody>
      </p:sp>
      <p:sp>
        <p:nvSpPr>
          <p:cNvPr id="4" name="Rounded Rectangle 3"/>
          <p:cNvSpPr/>
          <p:nvPr/>
        </p:nvSpPr>
        <p:spPr>
          <a:xfrm>
            <a:off x="6400800" y="1417320"/>
            <a:ext cx="5120640" cy="3383280"/>
          </a:xfrm>
          <a:prstGeom prst="roundRect">
            <a:avLst/>
          </a:prstGeom>
          <a:solidFill>
            <a:srgbClr val="182434"/>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Why it matters</a:t>
            </a:r>
          </a:p>
          <a:p>
            <a:pPr>
              <a:defRPr sz="1100">
                <a:solidFill>
                  <a:srgbClr val="F5F7FA"/>
                </a:solidFill>
              </a:defRPr>
            </a:pPr>
            <a:r>
              <a:t>Co-location reduces execution risk, shortens the path to host infrastructure, and creates a state-by-state model that can scale under one governance spine.</a:t>
            </a:r>
          </a:p>
        </p:txBody>
      </p:sp>
      <p:sp>
        <p:nvSpPr>
          <p:cNvPr id="5" name="Rectangle 4"/>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7" name="TextBox 6"/>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41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lgn="l">
              <a:defRPr sz="2400" b="1">
                <a:solidFill>
                  <a:srgbClr val="F5F7FA"/>
                </a:solidFill>
              </a:defRPr>
            </a:pPr>
            <a:r>
              <a:t>Legacy waste, aging industrial assets, and fragmented execution</a:t>
            </a:r>
          </a:p>
        </p:txBody>
      </p:sp>
      <p:sp>
        <p:nvSpPr>
          <p:cNvPr id="3" name="TextBox 2"/>
          <p:cNvSpPr txBox="1"/>
          <p:nvPr/>
        </p:nvSpPr>
        <p:spPr>
          <a:xfrm>
            <a:off x="731520" y="1371600"/>
            <a:ext cx="5394960" cy="4389120"/>
          </a:xfrm>
          <a:prstGeom prst="rect">
            <a:avLst/>
          </a:prstGeom>
          <a:noFill/>
        </p:spPr>
        <p:txBody>
          <a:bodyPr wrap="square" lIns="101600" rIns="76200" tIns="76200">
            <a:spAutoFit/>
          </a:bodyPr>
          <a:lstStyle/>
          <a:p>
            <a:pPr>
              <a:spcAft>
                <a:spcPts val="1000"/>
              </a:spcAft>
              <a:defRPr sz="1800">
                <a:solidFill>
                  <a:srgbClr val="F5F7FA"/>
                </a:solidFill>
              </a:defRPr>
            </a:pPr>
            <a:r>
              <a:t>End-of-life tires, treated wood, and biomass residuals remain under-monetized or stranded.</a:t>
            </a:r>
          </a:p>
          <a:p>
            <a:pPr>
              <a:spcAft>
                <a:spcPts val="1000"/>
              </a:spcAft>
              <a:defRPr sz="1800">
                <a:solidFill>
                  <a:srgbClr val="F5F7FA"/>
                </a:solidFill>
              </a:defRPr>
            </a:pPr>
            <a:r>
              <a:t>Legacy industrial sites need new revenue lines, not just cleanup narratives.</a:t>
            </a:r>
          </a:p>
          <a:p>
            <a:pPr>
              <a:spcAft>
                <a:spcPts val="1000"/>
              </a:spcAft>
              <a:defRPr sz="1800">
                <a:solidFill>
                  <a:srgbClr val="F5F7FA"/>
                </a:solidFill>
              </a:defRPr>
            </a:pPr>
            <a:r>
              <a:t>Communities that carried historic industrial burden are often excluded from the next round of value creation.</a:t>
            </a:r>
          </a:p>
          <a:p>
            <a:pPr>
              <a:spcAft>
                <a:spcPts val="1000"/>
              </a:spcAft>
              <a:defRPr sz="1800">
                <a:solidFill>
                  <a:srgbClr val="F5F7FA"/>
                </a:solidFill>
              </a:defRPr>
            </a:pPr>
            <a:r>
              <a:t>Projects break when site control, permits, partner roles, and capital sources are not governed as one system.</a:t>
            </a:r>
          </a:p>
        </p:txBody>
      </p:sp>
      <p:sp>
        <p:nvSpPr>
          <p:cNvPr id="4" name="Rounded Rectangle 3"/>
          <p:cNvSpPr/>
          <p:nvPr/>
        </p:nvSpPr>
        <p:spPr>
          <a:xfrm>
            <a:off x="6400800" y="1417320"/>
            <a:ext cx="5120640" cy="3383280"/>
          </a:xfrm>
          <a:prstGeom prst="roundRect">
            <a:avLst/>
          </a:prstGeom>
          <a:solidFill>
            <a:srgbClr val="182434"/>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Michigan LTC response</a:t>
            </a:r>
          </a:p>
          <a:p>
            <a:pPr>
              <a:defRPr sz="1100">
                <a:solidFill>
                  <a:srgbClr val="F5F7FA"/>
                </a:solidFill>
              </a:defRPr>
            </a:pPr>
            <a:r>
              <a:t>Controlled feedstock + licensed technology + site-level isolation + continuity systems = a more bankable circular-industrial platform.</a:t>
            </a:r>
          </a:p>
        </p:txBody>
      </p:sp>
      <p:sp>
        <p:nvSpPr>
          <p:cNvPr id="5" name="Rectangle 4"/>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7" name="TextBox 6"/>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41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lgn="l">
              <a:defRPr sz="2400" b="1">
                <a:solidFill>
                  <a:srgbClr val="F5F7FA"/>
                </a:solidFill>
              </a:defRPr>
            </a:pPr>
            <a:r>
              <a:t>Parent holdco above state SPVs; Michigan is the first operating node</a:t>
            </a:r>
          </a:p>
        </p:txBody>
      </p:sp>
      <p:sp>
        <p:nvSpPr>
          <p:cNvPr id="3" name="TextBox 2"/>
          <p:cNvSpPr txBox="1"/>
          <p:nvPr/>
        </p:nvSpPr>
        <p:spPr>
          <a:xfrm>
            <a:off x="731520" y="1371600"/>
            <a:ext cx="5394960" cy="4389120"/>
          </a:xfrm>
          <a:prstGeom prst="rect">
            <a:avLst/>
          </a:prstGeom>
          <a:noFill/>
        </p:spPr>
        <p:txBody>
          <a:bodyPr wrap="square" lIns="101600" rIns="76200" tIns="76200">
            <a:spAutoFit/>
          </a:bodyPr>
          <a:lstStyle/>
          <a:p>
            <a:pPr>
              <a:spcAft>
                <a:spcPts val="1000"/>
              </a:spcAft>
              <a:defRPr sz="1800">
                <a:solidFill>
                  <a:srgbClr val="F5F7FA"/>
                </a:solidFill>
              </a:defRPr>
            </a:pPr>
            <a:r>
              <a:t>Parent holdco structure sits above state operating SPVs.</a:t>
            </a:r>
          </a:p>
          <a:p>
            <a:pPr>
              <a:spcAft>
                <a:spcPts val="1000"/>
              </a:spcAft>
              <a:defRPr sz="1800">
                <a:solidFill>
                  <a:srgbClr val="F5F7FA"/>
                </a:solidFill>
              </a:defRPr>
            </a:pPr>
            <a:r>
              <a:t>Michigan LTC Network is the first operating state node; future Nebraska LTC, Alabama LTC, and other state SPVs are contemplated.</a:t>
            </a:r>
          </a:p>
          <a:p>
            <a:pPr>
              <a:spcAft>
                <a:spcPts val="1000"/>
              </a:spcAft>
              <a:defRPr sz="1800">
                <a:solidFill>
                  <a:srgbClr val="F5F7FA"/>
                </a:solidFill>
              </a:defRPr>
            </a:pPr>
            <a:r>
              <a:t>Site-level SPVs and host-JV structures isolate permitting, liability, and operating obligations at the project layer.</a:t>
            </a:r>
          </a:p>
          <a:p>
            <a:pPr>
              <a:spcAft>
                <a:spcPts val="1000"/>
              </a:spcAft>
              <a:defRPr sz="1800">
                <a:solidFill>
                  <a:srgbClr val="F5F7FA"/>
                </a:solidFill>
              </a:defRPr>
            </a:pPr>
            <a:r>
              <a:t>Current officer direction: McCall as President, Scharer as Vice President, Schopp as Secretary/Treasurer.</a:t>
            </a:r>
          </a:p>
        </p:txBody>
      </p:sp>
      <p:sp>
        <p:nvSpPr>
          <p:cNvPr id="4" name="Rounded Rectangle 3"/>
          <p:cNvSpPr/>
          <p:nvPr/>
        </p:nvSpPr>
        <p:spPr>
          <a:xfrm>
            <a:off x="6400800" y="5486400"/>
            <a:ext cx="5212080" cy="566928"/>
          </a:xfrm>
          <a:prstGeom prst="roundRect">
            <a:avLst/>
          </a:prstGeom>
          <a:solidFill>
            <a:srgbClr val="481818"/>
          </a:solidFill>
          <a:ln>
            <a:solidFill>
              <a:srgbClr val="E05F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E4E4"/>
                </a:solidFill>
              </a:defRPr>
            </a:pPr>
            <a:r>
              <a:t>[CONFIRM] Parent holdco legal name, formation records, and final site-level entity naming.</a:t>
            </a:r>
          </a:p>
        </p:txBody>
      </p:sp>
      <p:sp>
        <p:nvSpPr>
          <p:cNvPr id="5" name="Rectangle 4"/>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7" name="TextBox 6"/>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41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lgn="l">
              <a:defRPr sz="2400" b="1">
                <a:solidFill>
                  <a:srgbClr val="F5F7FA"/>
                </a:solidFill>
              </a:defRPr>
            </a:pPr>
            <a:r>
              <a:t>Three Michigan sites, one network thesis</a:t>
            </a:r>
          </a:p>
        </p:txBody>
      </p:sp>
      <p:sp>
        <p:nvSpPr>
          <p:cNvPr id="3" name="Rounded Rectangle 2"/>
          <p:cNvSpPr/>
          <p:nvPr/>
        </p:nvSpPr>
        <p:spPr>
          <a:xfrm>
            <a:off x="640080" y="1417320"/>
            <a:ext cx="3520440" cy="2011680"/>
          </a:xfrm>
          <a:prstGeom prst="roundRect">
            <a:avLst/>
          </a:prstGeom>
          <a:solidFill>
            <a:srgbClr val="182434"/>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Coldwater Road / Genesee Township</a:t>
            </a:r>
          </a:p>
          <a:p>
            <a:pPr>
              <a:defRPr sz="1100">
                <a:solidFill>
                  <a:srgbClr val="F5F7FA"/>
                </a:solidFill>
              </a:defRPr>
            </a:pPr>
            <a:r>
              <a:t>Primary rail-served hub narrative</a:t>
            </a:r>
            <a:br/>
            <a:r>
              <a:t>RACER Site ID 13270</a:t>
            </a:r>
            <a:br/>
            <a:r>
              <a:t>118.3 acres</a:t>
            </a:r>
            <a:br/>
            <a:r>
              <a:t>I-2 industrial</a:t>
            </a:r>
            <a:br/>
            <a:r>
              <a:t>NFA with controls</a:t>
            </a:r>
          </a:p>
        </p:txBody>
      </p:sp>
      <p:sp>
        <p:nvSpPr>
          <p:cNvPr id="4" name="Rounded Rectangle 3"/>
          <p:cNvSpPr/>
          <p:nvPr/>
        </p:nvSpPr>
        <p:spPr>
          <a:xfrm>
            <a:off x="4343400" y="1417320"/>
            <a:ext cx="3520440" cy="2011680"/>
          </a:xfrm>
          <a:prstGeom prst="roundRect">
            <a:avLst/>
          </a:prstGeom>
          <a:solidFill>
            <a:srgbClr val="182434"/>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Flint / Dort Highway</a:t>
            </a:r>
          </a:p>
          <a:p>
            <a:pPr>
              <a:defRPr sz="1100">
                <a:solidFill>
                  <a:srgbClr val="F5F7FA"/>
                </a:solidFill>
              </a:defRPr>
            </a:pPr>
            <a:r>
              <a:t>Co-location with Environmental Rubber Recycling</a:t>
            </a:r>
            <a:br/>
            <a:r>
              <a:t>14-acre brownfield</a:t>
            </a:r>
            <a:br/>
            <a:r>
              <a:t>Feedstock and EJ anchor story</a:t>
            </a:r>
          </a:p>
        </p:txBody>
      </p:sp>
      <p:sp>
        <p:nvSpPr>
          <p:cNvPr id="5" name="Rounded Rectangle 4"/>
          <p:cNvSpPr/>
          <p:nvPr/>
        </p:nvSpPr>
        <p:spPr>
          <a:xfrm>
            <a:off x="8046720" y="1417320"/>
            <a:ext cx="3520440" cy="2011680"/>
          </a:xfrm>
          <a:prstGeom prst="roundRect">
            <a:avLst/>
          </a:prstGeom>
          <a:solidFill>
            <a:srgbClr val="182434"/>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Coleman / Midland County</a:t>
            </a:r>
          </a:p>
          <a:p>
            <a:pPr>
              <a:defRPr sz="1100">
                <a:solidFill>
                  <a:srgbClr val="F5F7FA"/>
                </a:solidFill>
              </a:defRPr>
            </a:pPr>
            <a:r>
              <a:t>Co-location with Geocycle / CM Rubber Recycling</a:t>
            </a:r>
            <a:br/>
            <a:r>
              <a:t>Existing host infrastructure</a:t>
            </a:r>
            <a:br/>
            <a:r>
              <a:t>Replication-template site</a:t>
            </a:r>
          </a:p>
        </p:txBody>
      </p:sp>
      <p:sp>
        <p:nvSpPr>
          <p:cNvPr id="6" name="Rounded Rectangle 5"/>
          <p:cNvSpPr/>
          <p:nvPr/>
        </p:nvSpPr>
        <p:spPr>
          <a:xfrm>
            <a:off x="640080" y="3794760"/>
            <a:ext cx="4846320" cy="1188720"/>
          </a:xfrm>
          <a:prstGeom prst="roundRect">
            <a:avLst/>
          </a:prstGeom>
          <a:solidFill>
            <a:srgbClr val="121C2A"/>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Optional fourth node</a:t>
            </a:r>
          </a:p>
          <a:p>
            <a:pPr>
              <a:defRPr sz="1100">
                <a:solidFill>
                  <a:srgbClr val="F5F7FA"/>
                </a:solidFill>
              </a:defRPr>
            </a:pPr>
            <a:r>
              <a:t>Lincoln biomass-transition site can be included as a rural/biomass node if management keeps it in the active investor story.</a:t>
            </a:r>
          </a:p>
        </p:txBody>
      </p:sp>
      <p:sp>
        <p:nvSpPr>
          <p:cNvPr id="7" name="Rounded Rectangle 6"/>
          <p:cNvSpPr/>
          <p:nvPr/>
        </p:nvSpPr>
        <p:spPr>
          <a:xfrm>
            <a:off x="5715000" y="3794760"/>
            <a:ext cx="5852160" cy="1188720"/>
          </a:xfrm>
          <a:prstGeom prst="roundRect">
            <a:avLst/>
          </a:prstGeom>
          <a:solidFill>
            <a:srgbClr val="121C2A"/>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Operating message</a:t>
            </a:r>
          </a:p>
          <a:p>
            <a:pPr>
              <a:defRPr sz="1100">
                <a:solidFill>
                  <a:srgbClr val="F5F7FA"/>
                </a:solidFill>
              </a:defRPr>
            </a:pPr>
            <a:r>
              <a:t>The network is built around co-location with existing recyclers and industrial operators. The site story is stronger when each node is tied to an existing host advantage.</a:t>
            </a:r>
          </a:p>
          <a:p>
            <a:r>
              <a:rPr sz="1100" i="1">
                <a:solidFill>
                  <a:srgbClr val="B08948"/>
                </a:solidFill>
              </a:rPr>
              <a:t>Active submitted set is Lincoln, Flint, and Coleman (per the 5/19 LOIs). Coldwater is presented as a Phase 2 capital opportunity, not the lead site.</a:t>
            </a:r>
          </a:p>
        </p:txBody>
      </p:sp>
      <p:sp>
        <p:nvSpPr>
          <p:cNvPr id="8" name="Rounded Rectangle 7"/>
          <p:cNvSpPr/>
          <p:nvPr/>
        </p:nvSpPr>
        <p:spPr>
          <a:xfrm>
            <a:off x="6400800" y="5486400"/>
            <a:ext cx="5212080" cy="566928"/>
          </a:xfrm>
          <a:prstGeom prst="roundRect">
            <a:avLst/>
          </a:prstGeom>
          <a:solidFill>
            <a:srgbClr val="481818"/>
          </a:solidFill>
          <a:ln>
            <a:solidFill>
              <a:srgbClr val="E05F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E4E4"/>
                </a:solidFill>
              </a:defRPr>
            </a:pPr>
            <a:r>
              <a:t>[CONFIRM] Final active investor site list: source files conflict on Coldwater vs. Lincoln.</a:t>
            </a:r>
          </a:p>
        </p:txBody>
      </p:sp>
      <p:sp>
        <p:nvSpPr>
          <p:cNvPr id="9" name="Rectangle 8"/>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11" name="TextBox 10"/>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41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lgn="l">
              <a:defRPr sz="2400" b="1">
                <a:solidFill>
                  <a:srgbClr val="F5F7FA"/>
                </a:solidFill>
              </a:defRPr>
            </a:pPr>
            <a:r>
              <a:t>Coldwater Road — Genesee Township rail-served primary hub</a:t>
            </a:r>
          </a:p>
        </p:txBody>
      </p:sp>
      <p:sp>
        <p:nvSpPr>
          <p:cNvPr id="3" name="TextBox 2"/>
          <p:cNvSpPr txBox="1"/>
          <p:nvPr/>
        </p:nvSpPr>
        <p:spPr>
          <a:xfrm>
            <a:off x="731520" y="1371600"/>
            <a:ext cx="5394960" cy="4389120"/>
          </a:xfrm>
          <a:prstGeom prst="rect">
            <a:avLst/>
          </a:prstGeom>
          <a:noFill/>
        </p:spPr>
        <p:txBody>
          <a:bodyPr wrap="square" lIns="101600" rIns="76200" tIns="76200">
            <a:spAutoFit/>
          </a:bodyPr>
          <a:lstStyle/>
          <a:p>
            <a:pPr>
              <a:spcAft>
                <a:spcPts val="1000"/>
              </a:spcAft>
              <a:defRPr sz="1800">
                <a:solidFill>
                  <a:srgbClr val="F5F7FA"/>
                </a:solidFill>
              </a:defRPr>
            </a:pPr>
            <a:r>
              <a:t>1245 East Coldwater Road, Genesee Township, Michigan.</a:t>
            </a:r>
          </a:p>
          <a:p>
            <a:pPr>
              <a:spcAft>
                <a:spcPts val="1000"/>
              </a:spcAft>
              <a:defRPr sz="1800">
                <a:solidFill>
                  <a:srgbClr val="F5F7FA"/>
                </a:solidFill>
              </a:defRPr>
            </a:pPr>
            <a:r>
              <a:t>RACER Site ID 13270; 118.3 acres; 4,570 feet of Lake State Railway frontage.</a:t>
            </a:r>
          </a:p>
          <a:p>
            <a:pPr>
              <a:spcAft>
                <a:spcPts val="1000"/>
              </a:spcAft>
              <a:defRPr sz="1800">
                <a:solidFill>
                  <a:srgbClr val="F5F7FA"/>
                </a:solidFill>
              </a:defRPr>
            </a:pPr>
            <a:r>
              <a:t>Heavy industrial zoning, full utilities, and proximity to 138 kV / 46 kV Consumers Energy substations.</a:t>
            </a:r>
          </a:p>
          <a:p>
            <a:pPr>
              <a:spcAft>
                <a:spcPts val="1000"/>
              </a:spcAft>
              <a:defRPr sz="1800">
                <a:solidFill>
                  <a:srgbClr val="F5F7FA"/>
                </a:solidFill>
              </a:defRPr>
            </a:pPr>
            <a:r>
              <a:t>EGLE No Further Action — Complete with Controls (Nov. 2018); restrictive covenant recorded March 2018.</a:t>
            </a:r>
          </a:p>
          <a:p>
            <a:pPr>
              <a:spcAft>
                <a:spcPts val="1000"/>
              </a:spcAft>
              <a:defRPr sz="1800">
                <a:solidFill>
                  <a:srgbClr val="F5F7FA"/>
                </a:solidFill>
              </a:defRPr>
            </a:pPr>
            <a:r>
              <a:t>Primary-hub role: large-scale throughput and corridor logistics.</a:t>
            </a:r>
          </a:p>
        </p:txBody>
      </p:sp>
      <p:sp>
        <p:nvSpPr>
          <p:cNvPr id="4" name="Rounded Rectangle 3"/>
          <p:cNvSpPr/>
          <p:nvPr/>
        </p:nvSpPr>
        <p:spPr>
          <a:xfrm>
            <a:off x="6400800" y="5486400"/>
            <a:ext cx="5212080" cy="566928"/>
          </a:xfrm>
          <a:prstGeom prst="roundRect">
            <a:avLst/>
          </a:prstGeom>
          <a:solidFill>
            <a:srgbClr val="481818"/>
          </a:solidFill>
          <a:ln>
            <a:solidFill>
              <a:srgbClr val="E05F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E4E4"/>
                </a:solidFill>
              </a:defRPr>
            </a:pPr>
            <a:r>
              <a:t>[CONFIRM] Whether Coldwater is active in the investor raise or remains Phase 2.</a:t>
            </a:r>
          </a:p>
        </p:txBody>
      </p:sp>
      <p:sp>
        <p:nvSpPr>
          <p:cNvPr id="5" name="Rectangle 4"/>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7" name="TextBox 6"/>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41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lgn="l">
              <a:defRPr sz="2400" b="1">
                <a:solidFill>
                  <a:srgbClr val="F5F7FA"/>
                </a:solidFill>
              </a:defRPr>
            </a:pPr>
            <a:r>
              <a:t>Flint / Dort Highway — brownfield co-location with ERR</a:t>
            </a:r>
          </a:p>
        </p:txBody>
      </p:sp>
      <p:sp>
        <p:nvSpPr>
          <p:cNvPr id="3" name="TextBox 2"/>
          <p:cNvSpPr txBox="1"/>
          <p:nvPr/>
        </p:nvSpPr>
        <p:spPr>
          <a:xfrm>
            <a:off x="731520" y="1371600"/>
            <a:ext cx="5394960" cy="4389120"/>
          </a:xfrm>
          <a:prstGeom prst="rect">
            <a:avLst/>
          </a:prstGeom>
          <a:noFill/>
        </p:spPr>
        <p:txBody>
          <a:bodyPr wrap="square" lIns="101600" rIns="76200" tIns="76200">
            <a:spAutoFit/>
          </a:bodyPr>
          <a:lstStyle/>
          <a:p>
            <a:pPr>
              <a:spcAft>
                <a:spcPts val="1000"/>
              </a:spcAft>
              <a:defRPr sz="1800">
                <a:solidFill>
                  <a:srgbClr val="F5F7FA"/>
                </a:solidFill>
              </a:defRPr>
            </a:pPr>
            <a:r>
              <a:t>6515 Dort Hwy, Flint, MI 48505.</a:t>
            </a:r>
          </a:p>
          <a:p>
            <a:pPr>
              <a:spcAft>
                <a:spcPts val="1000"/>
              </a:spcAft>
              <a:defRPr sz="1800">
                <a:solidFill>
                  <a:srgbClr val="F5F7FA"/>
                </a:solidFill>
              </a:defRPr>
            </a:pPr>
            <a:r>
              <a:t>14-acre brownfield co-located with Environmental Rubber Recycling.</a:t>
            </a:r>
          </a:p>
          <a:p>
            <a:pPr>
              <a:spcAft>
                <a:spcPts val="1000"/>
              </a:spcAft>
              <a:defRPr sz="1800">
                <a:solidFill>
                  <a:srgbClr val="F5F7FA"/>
                </a:solidFill>
              </a:defRPr>
            </a:pPr>
            <a:r>
              <a:t>Project materials cite a site-specific SPV structure and a long-term ERR feedstock arrangement.</a:t>
            </a:r>
          </a:p>
          <a:p>
            <a:pPr>
              <a:spcAft>
                <a:spcPts val="1000"/>
              </a:spcAft>
              <a:defRPr sz="1800">
                <a:solidFill>
                  <a:srgbClr val="F5F7FA"/>
                </a:solidFill>
              </a:defRPr>
            </a:pPr>
            <a:r>
              <a:t>Source materials describe ~40,000 tons/year of qualifying waste-tire supply available at Flint.</a:t>
            </a:r>
          </a:p>
          <a:p>
            <a:pPr>
              <a:spcAft>
                <a:spcPts val="1000"/>
              </a:spcAft>
              <a:defRPr sz="1800">
                <a:solidFill>
                  <a:srgbClr val="F5F7FA"/>
                </a:solidFill>
              </a:defRPr>
            </a:pPr>
            <a:r>
              <a:t>Flint functions as the environmental-justice and brownfield reinvestment anchor for the network.</a:t>
            </a:r>
          </a:p>
        </p:txBody>
      </p:sp>
      <p:sp>
        <p:nvSpPr>
          <p:cNvPr id="4" name="Rounded Rectangle 3"/>
          <p:cNvSpPr/>
          <p:nvPr/>
        </p:nvSpPr>
        <p:spPr>
          <a:xfrm>
            <a:off x="6400800" y="5486400"/>
            <a:ext cx="5212080" cy="566928"/>
          </a:xfrm>
          <a:prstGeom prst="roundRect">
            <a:avLst/>
          </a:prstGeom>
          <a:solidFill>
            <a:srgbClr val="481818"/>
          </a:solidFill>
          <a:ln>
            <a:solidFill>
              <a:srgbClr val="E05F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E4E4"/>
                </a:solidFill>
              </a:defRPr>
            </a:pPr>
            <a:r>
              <a:t>[CONFIRM] Whether the Flint SPV naming will remain E.M.&amp;S.-FLINT or be renamed under Michigan LTC branding.</a:t>
            </a:r>
          </a:p>
        </p:txBody>
      </p:sp>
      <p:sp>
        <p:nvSpPr>
          <p:cNvPr id="5" name="Rectangle 4"/>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7" name="TextBox 6"/>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41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lgn="l">
              <a:defRPr sz="2400" b="1">
                <a:solidFill>
                  <a:srgbClr val="F5F7FA"/>
                </a:solidFill>
              </a:defRPr>
            </a:pPr>
            <a:r>
              <a:t>Coleman — co-location with Geocycle / CM Rubber Recycling</a:t>
            </a:r>
          </a:p>
        </p:txBody>
      </p:sp>
      <p:sp>
        <p:nvSpPr>
          <p:cNvPr id="3" name="TextBox 2"/>
          <p:cNvSpPr txBox="1"/>
          <p:nvPr/>
        </p:nvSpPr>
        <p:spPr>
          <a:xfrm>
            <a:off x="731520" y="1371600"/>
            <a:ext cx="5394960" cy="4389120"/>
          </a:xfrm>
          <a:prstGeom prst="rect">
            <a:avLst/>
          </a:prstGeom>
          <a:noFill/>
        </p:spPr>
        <p:txBody>
          <a:bodyPr wrap="square" lIns="101600" rIns="76200" tIns="76200">
            <a:spAutoFit/>
          </a:bodyPr>
          <a:lstStyle/>
          <a:p>
            <a:pPr>
              <a:spcAft>
                <a:spcPts val="1000"/>
              </a:spcAft>
              <a:defRPr sz="1800">
                <a:solidFill>
                  <a:srgbClr val="F5F7FA"/>
                </a:solidFill>
              </a:defRPr>
            </a:pPr>
            <a:r>
              <a:t>4602 W Saginaw Rd, Coleman, MI 48618.</a:t>
            </a:r>
          </a:p>
          <a:p>
            <a:pPr>
              <a:spcAft>
                <a:spcPts val="1000"/>
              </a:spcAft>
              <a:defRPr sz="1800">
                <a:solidFill>
                  <a:srgbClr val="F5F7FA"/>
                </a:solidFill>
              </a:defRPr>
            </a:pPr>
            <a:r>
              <a:t>Co-location at Geocycle’s existing Part 169-registered tire-processing facility.</a:t>
            </a:r>
          </a:p>
          <a:p>
            <a:pPr>
              <a:spcAft>
                <a:spcPts val="1000"/>
              </a:spcAft>
              <a:defRPr sz="1800">
                <a:solidFill>
                  <a:srgbClr val="F5F7FA"/>
                </a:solidFill>
              </a:defRPr>
            </a:pPr>
            <a:r>
              <a:t>Source materials cite ~22,000 tons/year of existing tire-derived fuel throughput to the Alpena cement kiln.</a:t>
            </a:r>
          </a:p>
          <a:p>
            <a:pPr>
              <a:spcAft>
                <a:spcPts val="1000"/>
              </a:spcAft>
              <a:defRPr sz="1800">
                <a:solidFill>
                  <a:srgbClr val="F5F7FA"/>
                </a:solidFill>
              </a:defRPr>
            </a:pPr>
            <a:r>
              <a:t>Investor story: use existing host infrastructure, add a distinct feedstock / value stream, and build the replication template.</a:t>
            </a:r>
          </a:p>
          <a:p>
            <a:pPr>
              <a:spcAft>
                <a:spcPts val="1000"/>
              </a:spcAft>
              <a:defRPr sz="1800">
                <a:solidFill>
                  <a:srgbClr val="F5F7FA"/>
                </a:solidFill>
              </a:defRPr>
            </a:pPr>
            <a:r>
              <a:t>Coleman also supports USDA-aligned rural financing pathways in current source materials.</a:t>
            </a:r>
          </a:p>
        </p:txBody>
      </p:sp>
      <p:sp>
        <p:nvSpPr>
          <p:cNvPr id="4" name="Rectangle 3"/>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6" name="TextBox 5"/>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141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lgn="l">
              <a:defRPr sz="2400" b="1">
                <a:solidFill>
                  <a:srgbClr val="F5F7FA"/>
                </a:solidFill>
              </a:defRPr>
            </a:pPr>
            <a:r>
              <a:t>Lincoln — optional biomass-transition node</a:t>
            </a:r>
          </a:p>
        </p:txBody>
      </p:sp>
      <p:sp>
        <p:nvSpPr>
          <p:cNvPr id="3" name="TextBox 2"/>
          <p:cNvSpPr txBox="1"/>
          <p:nvPr/>
        </p:nvSpPr>
        <p:spPr>
          <a:xfrm>
            <a:off x="731520" y="1371600"/>
            <a:ext cx="5394960" cy="4389120"/>
          </a:xfrm>
          <a:prstGeom prst="rect">
            <a:avLst/>
          </a:prstGeom>
          <a:noFill/>
        </p:spPr>
        <p:txBody>
          <a:bodyPr wrap="square" lIns="101600" rIns="76200" tIns="76200">
            <a:spAutoFit/>
          </a:bodyPr>
          <a:lstStyle/>
          <a:p>
            <a:pPr>
              <a:spcAft>
                <a:spcPts val="1000"/>
              </a:spcAft>
              <a:defRPr sz="1800">
                <a:solidFill>
                  <a:srgbClr val="F5F7FA"/>
                </a:solidFill>
              </a:defRPr>
            </a:pPr>
            <a:r>
              <a:t>509 W Traverse Bay State Rd, Lincoln, MI 48742.</a:t>
            </a:r>
          </a:p>
          <a:p>
            <a:pPr>
              <a:spcAft>
                <a:spcPts val="1000"/>
              </a:spcAft>
              <a:defRPr sz="1800">
                <a:solidFill>
                  <a:srgbClr val="F5F7FA"/>
                </a:solidFill>
              </a:defRPr>
            </a:pPr>
            <a:r>
              <a:t>Co-location at National Energy of Lincoln LLC’s existing EGLE-permitted biomass facility.</a:t>
            </a:r>
          </a:p>
          <a:p>
            <a:pPr>
              <a:spcAft>
                <a:spcPts val="1000"/>
              </a:spcAft>
              <a:defRPr sz="1800">
                <a:solidFill>
                  <a:srgbClr val="F5F7FA"/>
                </a:solidFill>
              </a:defRPr>
            </a:pPr>
            <a:r>
              <a:t>Current source narrative preserves ~21 existing jobs and extends site life beyond the 2027 Consumers Energy PPA expiration.</a:t>
            </a:r>
          </a:p>
          <a:p>
            <a:pPr>
              <a:spcAft>
                <a:spcPts val="1000"/>
              </a:spcAft>
              <a:defRPr sz="1800">
                <a:solidFill>
                  <a:srgbClr val="F5F7FA"/>
                </a:solidFill>
              </a:defRPr>
            </a:pPr>
            <a:r>
              <a:t>Feedstock narrative includes tires, treated wood, and forestry biomass residuals through National Salvage.</a:t>
            </a:r>
          </a:p>
          <a:p>
            <a:pPr>
              <a:spcAft>
                <a:spcPts val="1000"/>
              </a:spcAft>
              <a:defRPr sz="1800">
                <a:solidFill>
                  <a:srgbClr val="F5F7FA"/>
                </a:solidFill>
              </a:defRPr>
            </a:pPr>
            <a:r>
              <a:t>Use as an active investor slide only if management confirms Lincoln remains in the current raise.</a:t>
            </a:r>
          </a:p>
        </p:txBody>
      </p:sp>
      <p:sp>
        <p:nvSpPr>
          <p:cNvPr id="4" name="Rounded Rectangle 3"/>
          <p:cNvSpPr/>
          <p:nvPr/>
        </p:nvSpPr>
        <p:spPr>
          <a:xfrm>
            <a:off x="6400800" y="5486400"/>
            <a:ext cx="5212080" cy="566928"/>
          </a:xfrm>
          <a:prstGeom prst="roundRect">
            <a:avLst/>
          </a:prstGeom>
          <a:solidFill>
            <a:srgbClr val="481818"/>
          </a:solidFill>
          <a:ln>
            <a:solidFill>
              <a:srgbClr val="E05F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E4E4"/>
                </a:solidFill>
              </a:defRPr>
            </a:pPr>
            <a:r>
              <a:t>[CONFIRM] Whether Lincoln is active, optional, or appendix-only in the investor deck.</a:t>
            </a:r>
          </a:p>
        </p:txBody>
      </p:sp>
      <p:sp>
        <p:nvSpPr>
          <p:cNvPr id="5" name="Rectangle 4"/>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7" name="TextBox 6"/>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141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lgn="l">
              <a:defRPr sz="2400" b="1">
                <a:solidFill>
                  <a:srgbClr val="F5F7FA"/>
                </a:solidFill>
              </a:defRPr>
            </a:pPr>
            <a:r>
              <a:t>Licensed WasteWerx technology; proprietary IP remains with WasteWerx</a:t>
            </a:r>
          </a:p>
        </p:txBody>
      </p:sp>
      <p:sp>
        <p:nvSpPr>
          <p:cNvPr id="3" name="TextBox 2"/>
          <p:cNvSpPr txBox="1"/>
          <p:nvPr/>
        </p:nvSpPr>
        <p:spPr>
          <a:xfrm>
            <a:off x="731520" y="1371600"/>
            <a:ext cx="5394960" cy="4389120"/>
          </a:xfrm>
          <a:prstGeom prst="rect">
            <a:avLst/>
          </a:prstGeom>
          <a:noFill/>
        </p:spPr>
        <p:txBody>
          <a:bodyPr wrap="square" lIns="101600" rIns="76200" tIns="76200">
            <a:spAutoFit/>
          </a:bodyPr>
          <a:lstStyle/>
          <a:p>
            <a:pPr>
              <a:spcAft>
                <a:spcPts val="1000"/>
              </a:spcAft>
              <a:defRPr sz="1800">
                <a:solidFill>
                  <a:srgbClr val="F5F7FA"/>
                </a:solidFill>
              </a:defRPr>
            </a:pPr>
            <a:r>
              <a:t>Michigan LTC uses proprietary WasteWerx technology under license.</a:t>
            </a:r>
          </a:p>
          <a:p>
            <a:pPr>
              <a:spcAft>
                <a:spcPts val="1000"/>
              </a:spcAft>
              <a:defRPr sz="1800">
                <a:solidFill>
                  <a:srgbClr val="F5F7FA"/>
                </a:solidFill>
              </a:defRPr>
            </a:pPr>
            <a:r>
              <a:t>The technology converts selected waste streams into fuel outputs and related co-products in a contained environment.</a:t>
            </a:r>
          </a:p>
          <a:p>
            <a:pPr>
              <a:spcAft>
                <a:spcPts val="1000"/>
              </a:spcAft>
              <a:defRPr sz="1800">
                <a:solidFill>
                  <a:srgbClr val="F5F7FA"/>
                </a:solidFill>
              </a:defRPr>
            </a:pPr>
            <a:r>
              <a:t>Management’s environmental framing is containment: capture dust and heat inside the operating environment rather than externalize them.</a:t>
            </a:r>
          </a:p>
          <a:p>
            <a:pPr>
              <a:spcAft>
                <a:spcPts val="1000"/>
              </a:spcAft>
              <a:defRPr sz="1800">
                <a:solidFill>
                  <a:srgbClr val="F5F7FA"/>
                </a:solidFill>
              </a:defRPr>
            </a:pPr>
            <a:r>
              <a:t>Do not publish proprietary reactor specs, process detail, or WasteWerx / overseas reactor photos.</a:t>
            </a:r>
          </a:p>
        </p:txBody>
      </p:sp>
      <p:sp>
        <p:nvSpPr>
          <p:cNvPr id="4" name="Rounded Rectangle 3"/>
          <p:cNvSpPr/>
          <p:nvPr/>
        </p:nvSpPr>
        <p:spPr>
          <a:xfrm>
            <a:off x="6400800" y="1417320"/>
            <a:ext cx="5120640" cy="3383280"/>
          </a:xfrm>
          <a:prstGeom prst="roundRect">
            <a:avLst/>
          </a:prstGeom>
          <a:solidFill>
            <a:srgbClr val="182434"/>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Disclosure rule</a:t>
            </a:r>
          </a:p>
          <a:p>
            <a:pPr>
              <a:defRPr sz="1100">
                <a:solidFill>
                  <a:srgbClr val="F5F7FA"/>
                </a:solidFill>
              </a:defRPr>
            </a:pPr>
            <a:r>
              <a:t>WasteWerx owns the IP. Michigan LTC licenses the operating right. Title, transfer, royalty measurement, and termination terms belong in definitive documents and should be summarized accurately here.</a:t>
            </a:r>
          </a:p>
        </p:txBody>
      </p:sp>
      <p:sp>
        <p:nvSpPr>
          <p:cNvPr id="5" name="Rectangle 4"/>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7" name="TextBox 6"/>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141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lgn="l">
              <a:defRPr sz="2400" b="1">
                <a:solidFill>
                  <a:srgbClr val="F5F7FA"/>
                </a:solidFill>
              </a:defRPr>
            </a:pPr>
            <a:r>
              <a:t>Feedstock control is documented; product uptake still needs hard proof</a:t>
            </a:r>
          </a:p>
        </p:txBody>
      </p:sp>
      <p:sp>
        <p:nvSpPr>
          <p:cNvPr id="3" name="TextBox 2"/>
          <p:cNvSpPr txBox="1"/>
          <p:nvPr/>
        </p:nvSpPr>
        <p:spPr>
          <a:xfrm>
            <a:off x="731520" y="1371600"/>
            <a:ext cx="5394960" cy="4389120"/>
          </a:xfrm>
          <a:prstGeom prst="rect">
            <a:avLst/>
          </a:prstGeom>
          <a:noFill/>
        </p:spPr>
        <p:txBody>
          <a:bodyPr wrap="square" lIns="101600" rIns="76200" tIns="76200">
            <a:spAutoFit/>
          </a:bodyPr>
          <a:lstStyle/>
          <a:p>
            <a:pPr>
              <a:spcAft>
                <a:spcPts val="1000"/>
              </a:spcAft>
              <a:defRPr sz="1800">
                <a:solidFill>
                  <a:srgbClr val="F5F7FA"/>
                </a:solidFill>
              </a:defRPr>
            </a:pPr>
            <a:r>
              <a:t>Source-supported feedstock story: National Salvage for treated wood / demolition / biomass; ERR for Flint tire supply; Geocycle as Coleman host infrastructure.</a:t>
            </a:r>
          </a:p>
          <a:p>
            <a:pPr>
              <a:spcAft>
                <a:spcPts val="1000"/>
              </a:spcAft>
              <a:defRPr sz="1800">
                <a:solidFill>
                  <a:srgbClr val="F5F7FA"/>
                </a:solidFill>
              </a:defRPr>
            </a:pPr>
            <a:r>
              <a:t>Lake State Railway is documented as a logistics partner for Coldwater and Flint.</a:t>
            </a:r>
          </a:p>
          <a:p>
            <a:pPr>
              <a:spcAft>
                <a:spcPts val="1000"/>
              </a:spcAft>
              <a:defRPr sz="1800">
                <a:solidFill>
                  <a:srgbClr val="F5F7FA"/>
                </a:solidFill>
              </a:defRPr>
            </a:pPr>
            <a:r>
              <a:t>The planning transcript states management has MOUs for fuel byproduct uptake and aviation-fuel pathways.</a:t>
            </a:r>
          </a:p>
          <a:p>
            <a:pPr>
              <a:spcAft>
                <a:spcPts val="1000"/>
              </a:spcAft>
              <a:defRPr sz="1800">
                <a:solidFill>
                  <a:srgbClr val="F5F7FA"/>
                </a:solidFill>
              </a:defRPr>
            </a:pPr>
            <a:r>
              <a:t>No executed offtake / uptake MOU package was included in the provided source files.</a:t>
            </a:r>
          </a:p>
        </p:txBody>
      </p:sp>
      <p:sp>
        <p:nvSpPr>
          <p:cNvPr id="4" name="Rounded Rectangle 3"/>
          <p:cNvSpPr/>
          <p:nvPr/>
        </p:nvSpPr>
        <p:spPr>
          <a:xfrm>
            <a:off x="6400800" y="5486400"/>
            <a:ext cx="5212080" cy="566928"/>
          </a:xfrm>
          <a:prstGeom prst="roundRect">
            <a:avLst/>
          </a:prstGeom>
          <a:solidFill>
            <a:srgbClr val="481818"/>
          </a:solidFill>
          <a:ln>
            <a:solidFill>
              <a:srgbClr val="E05F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E4E4"/>
                </a:solidFill>
              </a:defRPr>
            </a:pPr>
            <a:r>
              <a:t>[CONFIRM] Signed uptake counterparties, dates, volumes, pricing, and any SAF-precursor commitments before circulation.</a:t>
            </a:r>
          </a:p>
        </p:txBody>
      </p:sp>
      <p:sp>
        <p:nvSpPr>
          <p:cNvPr id="5" name="Rectangle 4"/>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7" name="TextBox 6"/>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C141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lgn="l">
              <a:defRPr sz="2400" b="1">
                <a:solidFill>
                  <a:srgbClr val="F5F7FA"/>
                </a:solidFill>
              </a:defRPr>
            </a:pPr>
            <a:r>
              <a:t>Per-site economics — $15M headline raise; WasteWerx model replaces legacy EM&amp;S economics</a:t>
            </a:r>
          </a:p>
        </p:txBody>
      </p:sp>
      <p:graphicFrame>
        <p:nvGraphicFramePr>
          <p:cNvPr id="3" name="Table 2"/>
          <p:cNvGraphicFramePr>
            <a:graphicFrameLocks noGrp="1"/>
          </p:cNvGraphicFramePr>
          <p:nvPr/>
        </p:nvGraphicFramePr>
        <p:xfrm>
          <a:off x="685800" y="1417320"/>
          <a:ext cx="5669280" cy="2880360"/>
        </p:xfrm>
        <a:graphic>
          <a:graphicData uri="http://schemas.openxmlformats.org/drawingml/2006/table">
            <a:tbl>
              <a:tblPr firstRow="1" bandRow="1">
                <a:tableStyleId>{5C22544A-7EE6-4342-B048-85BDC9FD1C3A}</a:tableStyleId>
              </a:tblPr>
              <a:tblGrid>
                <a:gridCol w="1889760"/>
                <a:gridCol w="1889760"/>
                <a:gridCol w="1889760"/>
              </a:tblGrid>
              <a:tr h="480060">
                <a:tc>
                  <a:txBody>
                    <a:bodyPr/>
                    <a:lstStyle/>
                    <a:p>
                      <a:pPr>
                        <a:defRPr sz="1100" b="1">
                          <a:solidFill>
                            <a:srgbClr val="0C141F"/>
                          </a:solidFill>
                        </a:defRPr>
                      </a:pPr>
                      <a:r>
                        <a:t>Metric</a:t>
                      </a:r>
                    </a:p>
                  </a:txBody>
                  <a:tcPr>
                    <a:solidFill>
                      <a:srgbClr val="D9AF6B"/>
                    </a:solidFill>
                  </a:tcPr>
                </a:tc>
                <a:tc>
                  <a:txBody>
                    <a:bodyPr/>
                    <a:lstStyle/>
                    <a:p>
                      <a:pPr>
                        <a:defRPr sz="1100" b="1">
                          <a:solidFill>
                            <a:srgbClr val="0C141F"/>
                          </a:solidFill>
                        </a:defRPr>
                      </a:pPr>
                      <a:r>
                        <a:t>Per-site amount</a:t>
                      </a:r>
                    </a:p>
                  </a:txBody>
                  <a:tcPr>
                    <a:solidFill>
                      <a:srgbClr val="D9AF6B"/>
                    </a:solidFill>
                  </a:tcPr>
                </a:tc>
                <a:tc>
                  <a:txBody>
                    <a:bodyPr/>
                    <a:lstStyle/>
                    <a:p>
                      <a:pPr>
                        <a:defRPr sz="1100" b="1">
                          <a:solidFill>
                            <a:srgbClr val="0C141F"/>
                          </a:solidFill>
                        </a:defRPr>
                      </a:pPr>
                      <a:r>
                        <a:t>Status</a:t>
                      </a:r>
                    </a:p>
                  </a:txBody>
                  <a:tcPr>
                    <a:solidFill>
                      <a:srgbClr val="D9AF6B"/>
                    </a:solidFill>
                  </a:tcPr>
                </a:tc>
              </a:tr>
              <a:tr h="480060">
                <a:tc>
                  <a:txBody>
                    <a:bodyPr/>
                    <a:lstStyle/>
                    <a:p>
                      <a:pPr>
                        <a:defRPr sz="1050" b="0">
                          <a:solidFill>
                            <a:srgbClr val="F5F7FA"/>
                          </a:solidFill>
                        </a:defRPr>
                      </a:pPr>
                      <a:r>
                        <a:t>Target project raise</a:t>
                      </a:r>
                    </a:p>
                  </a:txBody>
                  <a:tcPr>
                    <a:solidFill>
                      <a:srgbClr val="121C2A"/>
                    </a:solidFill>
                  </a:tcPr>
                </a:tc>
                <a:tc>
                  <a:txBody>
                    <a:bodyPr/>
                    <a:lstStyle/>
                    <a:p>
                      <a:pPr>
                        <a:defRPr sz="1050" b="0">
                          <a:solidFill>
                            <a:srgbClr val="F5F7FA"/>
                          </a:solidFill>
                        </a:defRPr>
                      </a:pPr>
                      <a:r>
                        <a:t>$15,000,000</a:t>
                      </a:r>
                    </a:p>
                  </a:txBody>
                  <a:tcPr>
                    <a:solidFill>
                      <a:srgbClr val="121C2A"/>
                    </a:solidFill>
                  </a:tcPr>
                </a:tc>
                <a:tc>
                  <a:txBody>
                    <a:bodyPr/>
                    <a:lstStyle/>
                    <a:p>
                      <a:pPr>
                        <a:defRPr sz="1050" b="0">
                          <a:solidFill>
                            <a:srgbClr val="F5F7FA"/>
                          </a:solidFill>
                        </a:defRPr>
                      </a:pPr>
                      <a:r>
                        <a:t>Sponsor-directed headline</a:t>
                      </a:r>
                    </a:p>
                  </a:txBody>
                  <a:tcPr>
                    <a:solidFill>
                      <a:srgbClr val="121C2A"/>
                    </a:solidFill>
                  </a:tcPr>
                </a:tc>
              </a:tr>
              <a:tr h="480060">
                <a:tc>
                  <a:txBody>
                    <a:bodyPr/>
                    <a:lstStyle/>
                    <a:p>
                      <a:pPr>
                        <a:defRPr sz="1050" b="0">
                          <a:solidFill>
                            <a:srgbClr val="F5F7FA"/>
                          </a:solidFill>
                        </a:defRPr>
                      </a:pPr>
                      <a:r>
                        <a:t>Year 1 cash out</a:t>
                      </a:r>
                    </a:p>
                  </a:txBody>
                  <a:tcPr>
                    <a:solidFill>
                      <a:srgbClr val="121C2A"/>
                    </a:solidFill>
                  </a:tcPr>
                </a:tc>
                <a:tc>
                  <a:txBody>
                    <a:bodyPr/>
                    <a:lstStyle/>
                    <a:p>
                      <a:pPr>
                        <a:defRPr sz="1050" b="0">
                          <a:solidFill>
                            <a:srgbClr val="F5F7FA"/>
                          </a:solidFill>
                        </a:defRPr>
                      </a:pPr>
                      <a:r>
                        <a:t>$7,622,828</a:t>
                      </a:r>
                    </a:p>
                  </a:txBody>
                  <a:tcPr>
                    <a:solidFill>
                      <a:srgbClr val="121C2A"/>
                    </a:solidFill>
                  </a:tcPr>
                </a:tc>
                <a:tc>
                  <a:txBody>
                    <a:bodyPr/>
                    <a:lstStyle/>
                    <a:p>
                      <a:pPr>
                        <a:defRPr sz="1050" b="0">
                          <a:solidFill>
                            <a:srgbClr val="F5F7FA"/>
                          </a:solidFill>
                        </a:defRPr>
                      </a:pPr>
                      <a:r>
                        <a:t>Signed WasteWerx-based model</a:t>
                      </a:r>
                    </a:p>
                  </a:txBody>
                  <a:tcPr>
                    <a:solidFill>
                      <a:srgbClr val="121C2A"/>
                    </a:solidFill>
                  </a:tcPr>
                </a:tc>
              </a:tr>
              <a:tr h="480060">
                <a:tc>
                  <a:txBody>
                    <a:bodyPr/>
                    <a:lstStyle/>
                    <a:p>
                      <a:pPr>
                        <a:defRPr sz="1050" b="0">
                          <a:solidFill>
                            <a:srgbClr val="F5F7FA"/>
                          </a:solidFill>
                        </a:defRPr>
                      </a:pPr>
                      <a:r>
                        <a:t>Modeled annual revenue</a:t>
                      </a:r>
                    </a:p>
                  </a:txBody>
                  <a:tcPr>
                    <a:solidFill>
                      <a:srgbClr val="121C2A"/>
                    </a:solidFill>
                  </a:tcPr>
                </a:tc>
                <a:tc>
                  <a:txBody>
                    <a:bodyPr/>
                    <a:lstStyle/>
                    <a:p>
                      <a:pPr>
                        <a:defRPr sz="1050" b="0">
                          <a:solidFill>
                            <a:srgbClr val="F5F7FA"/>
                          </a:solidFill>
                        </a:defRPr>
                      </a:pPr>
                      <a:r>
                        <a:t>$35,581,680</a:t>
                      </a:r>
                    </a:p>
                  </a:txBody>
                  <a:tcPr>
                    <a:solidFill>
                      <a:srgbClr val="121C2A"/>
                    </a:solidFill>
                  </a:tcPr>
                </a:tc>
                <a:tc>
                  <a:txBody>
                    <a:bodyPr/>
                    <a:lstStyle/>
                    <a:p>
                      <a:pPr>
                        <a:defRPr sz="1050" b="0">
                          <a:solidFill>
                            <a:srgbClr val="F5F7FA"/>
                          </a:solidFill>
                        </a:defRPr>
                      </a:pPr>
                      <a:r>
                        <a:t>Includes fuel + RIN + §45Z</a:t>
                      </a:r>
                    </a:p>
                  </a:txBody>
                  <a:tcPr>
                    <a:solidFill>
                      <a:srgbClr val="121C2A"/>
                    </a:solidFill>
                  </a:tcPr>
                </a:tc>
              </a:tr>
              <a:tr h="480060">
                <a:tc>
                  <a:txBody>
                    <a:bodyPr/>
                    <a:lstStyle/>
                    <a:p>
                      <a:pPr>
                        <a:defRPr sz="1050" b="0">
                          <a:solidFill>
                            <a:srgbClr val="F5F7FA"/>
                          </a:solidFill>
                        </a:defRPr>
                      </a:pPr>
                      <a:r>
                        <a:t>Modeled annual EBITDA</a:t>
                      </a:r>
                    </a:p>
                  </a:txBody>
                  <a:tcPr>
                    <a:solidFill>
                      <a:srgbClr val="121C2A"/>
                    </a:solidFill>
                  </a:tcPr>
                </a:tc>
                <a:tc>
                  <a:txBody>
                    <a:bodyPr/>
                    <a:lstStyle/>
                    <a:p>
                      <a:pPr>
                        <a:defRPr sz="1050" b="0">
                          <a:solidFill>
                            <a:srgbClr val="F5F7FA"/>
                          </a:solidFill>
                        </a:defRPr>
                      </a:pPr>
                      <a:r>
                        <a:rPr sz="1150"/>
                        <a:t>$30,200,531  →  ~$22,047,043</a:t>
                      </a:r>
                    </a:p>
                  </a:txBody>
                  <a:tcPr>
                    <a:solidFill>
                      <a:srgbClr val="121C2A"/>
                    </a:solidFill>
                  </a:tcPr>
                </a:tc>
                <a:tc>
                  <a:txBody>
                    <a:bodyPr/>
                    <a:lstStyle/>
                    <a:p>
                      <a:pPr>
                        <a:defRPr sz="1050" b="0">
                          <a:solidFill>
                            <a:srgbClr val="F5F7FA"/>
                          </a:solidFill>
                        </a:defRPr>
                      </a:pPr>
                      <a:r>
                        <a:rPr sz="1150"/>
                        <a:t>Signed (5-FTE Pro Forma) → operator-reality (62-FTE integrated)</a:t>
                      </a:r>
                    </a:p>
                  </a:txBody>
                  <a:tcPr>
                    <a:solidFill>
                      <a:srgbClr val="121C2A"/>
                    </a:solidFill>
                  </a:tcPr>
                </a:tc>
              </a:tr>
              <a:tr h="480060">
                <a:tc>
                  <a:txBody>
                    <a:bodyPr/>
                    <a:lstStyle/>
                    <a:p>
                      <a:pPr>
                        <a:defRPr sz="1050" b="0">
                          <a:solidFill>
                            <a:srgbClr val="F5F7FA"/>
                          </a:solidFill>
                        </a:defRPr>
                      </a:pPr>
                      <a:r>
                        <a:t>New staffing input</a:t>
                      </a:r>
                    </a:p>
                  </a:txBody>
                  <a:tcPr>
                    <a:solidFill>
                      <a:srgbClr val="121C2A"/>
                    </a:solidFill>
                  </a:tcPr>
                </a:tc>
                <a:tc>
                  <a:txBody>
                    <a:bodyPr/>
                    <a:lstStyle/>
                    <a:p>
                      <a:pPr>
                        <a:defRPr sz="1050" b="0">
                          <a:solidFill>
                            <a:srgbClr val="F5F7FA"/>
                          </a:solidFill>
                        </a:defRPr>
                      </a:pPr>
                      <a:r>
                        <a:t>62 FTE / $5.5224M</a:t>
                      </a:r>
                    </a:p>
                  </a:txBody>
                  <a:tcPr>
                    <a:solidFill>
                      <a:srgbClr val="121C2A"/>
                    </a:solidFill>
                  </a:tcPr>
                </a:tc>
                <a:tc>
                  <a:txBody>
                    <a:bodyPr/>
                    <a:lstStyle/>
                    <a:p>
                      <a:pPr>
                        <a:defRPr sz="1050" b="0">
                          <a:solidFill>
                            <a:srgbClr val="F5F7FA"/>
                          </a:solidFill>
                        </a:defRPr>
                      </a:pPr>
                      <a:r>
                        <a:rPr sz="1150"/>
                        <a:t>Integrated below: lifts opex to ~$13.5M; EBITDA ~$22.0M</a:t>
                      </a:r>
                    </a:p>
                  </a:txBody>
                  <a:tcPr>
                    <a:solidFill>
                      <a:srgbClr val="121C2A"/>
                    </a:solidFill>
                  </a:tcPr>
                </a:tc>
              </a:tr>
            </a:tbl>
          </a:graphicData>
        </a:graphic>
      </p:graphicFrame>
      <p:sp>
        <p:nvSpPr>
          <p:cNvPr id="4" name="Rounded Rectangle 3"/>
          <p:cNvSpPr/>
          <p:nvPr/>
        </p:nvSpPr>
        <p:spPr>
          <a:xfrm>
            <a:off x="6583680" y="1463040"/>
            <a:ext cx="4937760" cy="1417320"/>
          </a:xfrm>
          <a:prstGeom prst="roundRect">
            <a:avLst/>
          </a:prstGeom>
          <a:solidFill>
            <a:srgbClr val="182434"/>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Why the old deck is out</a:t>
            </a:r>
          </a:p>
          <a:p>
            <a:pPr>
              <a:defRPr sz="1100">
                <a:solidFill>
                  <a:srgbClr val="F5F7FA"/>
                </a:solidFill>
              </a:defRPr>
            </a:pPr>
            <a:r>
              <a:t>Legacy EM&amp;S economics ($12.2M build / $16.875M revenue / $10M raise) are superseded by the signed WasteWerx-based financial model in the canonical workbook.</a:t>
            </a:r>
          </a:p>
        </p:txBody>
      </p:sp>
      <p:sp>
        <p:nvSpPr>
          <p:cNvPr id="5" name="Rounded Rectangle 4"/>
          <p:cNvSpPr/>
          <p:nvPr/>
        </p:nvSpPr>
        <p:spPr>
          <a:xfrm>
            <a:off x="6583680" y="3154680"/>
            <a:ext cx="4937760" cy="1783080"/>
          </a:xfrm>
          <a:prstGeom prst="roundRect">
            <a:avLst/>
          </a:prstGeom>
          <a:solidFill>
            <a:srgbClr val="121C2A"/>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Key caveats</a:t>
            </a:r>
          </a:p>
          <a:p>
            <a:pPr>
              <a:defRPr sz="1100">
                <a:solidFill>
                  <a:srgbClr val="F5F7FA"/>
                </a:solidFill>
              </a:defRPr>
            </a:pPr>
            <a:r>
              <a:t>Carbon black is excluded from the signed base revenue.</a:t>
            </a:r>
            <a:br/>
            <a:r>
              <a:t>RIN and §45Z value require registrations / eligibility and are not guaranteed.</a:t>
            </a:r>
            <a:br/>
            <a:r>
              <a:t>The new staffing pro forma materially exceeds the current labor assumption and must be reconciled into the site model.</a:t>
            </a:r>
          </a:p>
          <a:p>
            <a:r>
              <a:rPr sz="1100" i="1">
                <a:solidFill>
                  <a:srgbClr val="B08948"/>
                </a:solidFill>
              </a:rPr>
              <a:t>Reconciled view: the $30.2M EBITDA assumes Pro Forma staffing (4 FTE + manager, $425K). Integrating the 62-FTE staffing pro forma + feedstock gives operator-reality EBITDA ~$22.0M/site. Base fuel only (no RIN/45Z) is ~$1.6M/site — i.e. $20.4M of the $35.58M is registration-contingent.</a:t>
            </a:r>
          </a:p>
        </p:txBody>
      </p:sp>
      <p:sp>
        <p:nvSpPr>
          <p:cNvPr id="6" name="Rectangle 5"/>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8" name="TextBox 7"/>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C141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lgn="l">
              <a:defRPr sz="2400" b="1">
                <a:solidFill>
                  <a:srgbClr val="F5F7FA"/>
                </a:solidFill>
              </a:defRPr>
            </a:pPr>
            <a:r>
              <a:t>Three-site network + national replication</a:t>
            </a:r>
          </a:p>
        </p:txBody>
      </p:sp>
      <p:graphicFrame>
        <p:nvGraphicFramePr>
          <p:cNvPr id="3" name="Table 2"/>
          <p:cNvGraphicFramePr>
            <a:graphicFrameLocks noGrp="1"/>
          </p:cNvGraphicFramePr>
          <p:nvPr/>
        </p:nvGraphicFramePr>
        <p:xfrm>
          <a:off x="731520" y="1417320"/>
          <a:ext cx="4389120" cy="3154680"/>
        </p:xfrm>
        <a:graphic>
          <a:graphicData uri="http://schemas.openxmlformats.org/drawingml/2006/table">
            <a:tbl>
              <a:tblPr firstRow="1" bandRow="1">
                <a:tableStyleId>{5C22544A-7EE6-4342-B048-85BDC9FD1C3A}</a:tableStyleId>
              </a:tblPr>
              <a:tblGrid>
                <a:gridCol w="2194560"/>
                <a:gridCol w="2194560"/>
              </a:tblGrid>
              <a:tr h="450668">
                <a:tc>
                  <a:txBody>
                    <a:bodyPr/>
                    <a:lstStyle/>
                    <a:p>
                      <a:pPr>
                        <a:defRPr sz="1100" b="1">
                          <a:solidFill>
                            <a:srgbClr val="0C141F"/>
                          </a:solidFill>
                        </a:defRPr>
                      </a:pPr>
                      <a:r>
                        <a:t>Network metric</a:t>
                      </a:r>
                    </a:p>
                  </a:txBody>
                  <a:tcPr>
                    <a:solidFill>
                      <a:srgbClr val="D9AF6B"/>
                    </a:solidFill>
                  </a:tcPr>
                </a:tc>
                <a:tc>
                  <a:txBody>
                    <a:bodyPr/>
                    <a:lstStyle/>
                    <a:p>
                      <a:pPr>
                        <a:defRPr sz="1100" b="1">
                          <a:solidFill>
                            <a:srgbClr val="0C141F"/>
                          </a:solidFill>
                        </a:defRPr>
                      </a:pPr>
                      <a:r>
                        <a:t>Amount</a:t>
                      </a:r>
                    </a:p>
                  </a:txBody>
                  <a:tcPr>
                    <a:solidFill>
                      <a:srgbClr val="D9AF6B"/>
                    </a:solidFill>
                  </a:tcPr>
                </a:tc>
              </a:tr>
              <a:tr h="450668">
                <a:tc>
                  <a:txBody>
                    <a:bodyPr/>
                    <a:lstStyle/>
                    <a:p>
                      <a:pPr>
                        <a:defRPr sz="1050" b="0">
                          <a:solidFill>
                            <a:srgbClr val="F5F7FA"/>
                          </a:solidFill>
                        </a:defRPr>
                      </a:pPr>
                      <a:r>
                        <a:t>Modeled annual revenue</a:t>
                      </a:r>
                    </a:p>
                  </a:txBody>
                  <a:tcPr>
                    <a:solidFill>
                      <a:srgbClr val="121C2A"/>
                    </a:solidFill>
                  </a:tcPr>
                </a:tc>
                <a:tc>
                  <a:txBody>
                    <a:bodyPr/>
                    <a:lstStyle/>
                    <a:p>
                      <a:pPr>
                        <a:defRPr sz="1050" b="0">
                          <a:solidFill>
                            <a:srgbClr val="F5F7FA"/>
                          </a:solidFill>
                        </a:defRPr>
                      </a:pPr>
                      <a:r>
                        <a:t>$106,745,040</a:t>
                      </a:r>
                    </a:p>
                  </a:txBody>
                  <a:tcPr>
                    <a:solidFill>
                      <a:srgbClr val="121C2A"/>
                    </a:solidFill>
                  </a:tcPr>
                </a:tc>
              </a:tr>
              <a:tr h="450668">
                <a:tc>
                  <a:txBody>
                    <a:bodyPr/>
                    <a:lstStyle/>
                    <a:p>
                      <a:pPr>
                        <a:defRPr sz="1050" b="0">
                          <a:solidFill>
                            <a:srgbClr val="F5F7FA"/>
                          </a:solidFill>
                        </a:defRPr>
                      </a:pPr>
                      <a:r>
                        <a:t>Modeled annual EBITDA</a:t>
                      </a:r>
                    </a:p>
                  </a:txBody>
                  <a:tcPr>
                    <a:solidFill>
                      <a:srgbClr val="121C2A"/>
                    </a:solidFill>
                  </a:tcPr>
                </a:tc>
                <a:tc>
                  <a:txBody>
                    <a:bodyPr/>
                    <a:lstStyle/>
                    <a:p>
                      <a:pPr>
                        <a:defRPr sz="1050" b="0">
                          <a:solidFill>
                            <a:srgbClr val="F5F7FA"/>
                          </a:solidFill>
                        </a:defRPr>
                      </a:pPr>
                      <a:r>
                        <a:rPr sz="1150"/>
                        <a:t>$90,601,593 (signed)  →  ~$66,141,129 (operator-reality)</a:t>
                      </a:r>
                    </a:p>
                  </a:txBody>
                  <a:tcPr>
                    <a:solidFill>
                      <a:srgbClr val="121C2A"/>
                    </a:solidFill>
                  </a:tcPr>
                </a:tc>
              </a:tr>
              <a:tr h="450668">
                <a:tc>
                  <a:txBody>
                    <a:bodyPr/>
                    <a:lstStyle/>
                    <a:p>
                      <a:pPr>
                        <a:defRPr sz="1050" b="0">
                          <a:solidFill>
                            <a:srgbClr val="F5F7FA"/>
                          </a:solidFill>
                        </a:defRPr>
                      </a:pPr>
                      <a:r>
                        <a:t>Aggregate Year 1 cash out</a:t>
                      </a:r>
                    </a:p>
                  </a:txBody>
                  <a:tcPr>
                    <a:solidFill>
                      <a:srgbClr val="121C2A"/>
                    </a:solidFill>
                  </a:tcPr>
                </a:tc>
                <a:tc>
                  <a:txBody>
                    <a:bodyPr/>
                    <a:lstStyle/>
                    <a:p>
                      <a:pPr>
                        <a:defRPr sz="1050" b="0">
                          <a:solidFill>
                            <a:srgbClr val="F5F7FA"/>
                          </a:solidFill>
                        </a:defRPr>
                      </a:pPr>
                      <a:r>
                        <a:t>$22,868,484</a:t>
                      </a:r>
                    </a:p>
                  </a:txBody>
                  <a:tcPr>
                    <a:solidFill>
                      <a:srgbClr val="121C2A"/>
                    </a:solidFill>
                  </a:tcPr>
                </a:tc>
              </a:tr>
              <a:tr h="450668">
                <a:tc>
                  <a:txBody>
                    <a:bodyPr/>
                    <a:lstStyle/>
                    <a:p>
                      <a:pPr>
                        <a:defRPr sz="1050" b="0">
                          <a:solidFill>
                            <a:srgbClr val="F5F7FA"/>
                          </a:solidFill>
                        </a:defRPr>
                      </a:pPr>
                      <a:r>
                        <a:t>Diverted material</a:t>
                      </a:r>
                    </a:p>
                  </a:txBody>
                  <a:tcPr>
                    <a:solidFill>
                      <a:srgbClr val="121C2A"/>
                    </a:solidFill>
                  </a:tcPr>
                </a:tc>
                <a:tc>
                  <a:txBody>
                    <a:bodyPr/>
                    <a:lstStyle/>
                    <a:p>
                      <a:pPr>
                        <a:defRPr sz="1050" b="0">
                          <a:solidFill>
                            <a:srgbClr val="F5F7FA"/>
                          </a:solidFill>
                        </a:defRPr>
                      </a:pPr>
                      <a:r>
                        <a:t>45,000 tons/year</a:t>
                      </a:r>
                    </a:p>
                  </a:txBody>
                  <a:tcPr>
                    <a:solidFill>
                      <a:srgbClr val="121C2A"/>
                    </a:solidFill>
                  </a:tcPr>
                </a:tc>
              </a:tr>
              <a:tr h="450668">
                <a:tc>
                  <a:txBody>
                    <a:bodyPr/>
                    <a:lstStyle/>
                    <a:p>
                      <a:pPr>
                        <a:defRPr sz="1050" b="0">
                          <a:solidFill>
                            <a:srgbClr val="F5F7FA"/>
                          </a:solidFill>
                        </a:defRPr>
                      </a:pPr>
                      <a:r>
                        <a:t>Headcount planning assumption</a:t>
                      </a:r>
                    </a:p>
                  </a:txBody>
                  <a:tcPr>
                    <a:solidFill>
                      <a:srgbClr val="121C2A"/>
                    </a:solidFill>
                  </a:tcPr>
                </a:tc>
                <a:tc>
                  <a:txBody>
                    <a:bodyPr/>
                    <a:lstStyle/>
                    <a:p>
                      <a:pPr>
                        <a:defRPr sz="1050" b="0">
                          <a:solidFill>
                            <a:srgbClr val="F5F7FA"/>
                          </a:solidFill>
                        </a:defRPr>
                      </a:pPr>
                      <a:r>
                        <a:t>90 FTE</a:t>
                      </a:r>
                    </a:p>
                  </a:txBody>
                  <a:tcPr>
                    <a:solidFill>
                      <a:srgbClr val="121C2A"/>
                    </a:solidFill>
                  </a:tcPr>
                </a:tc>
              </a:tr>
              <a:tr h="450672">
                <a:tc>
                  <a:txBody>
                    <a:bodyPr/>
                    <a:lstStyle/>
                    <a:p>
                      <a:pPr>
                        <a:defRPr sz="1050" b="0">
                          <a:solidFill>
                            <a:srgbClr val="F5F7FA"/>
                          </a:solidFill>
                        </a:defRPr>
                      </a:pPr>
                      <a:r>
                        <a:t>Staffing reconciliation</a:t>
                      </a:r>
                    </a:p>
                  </a:txBody>
                  <a:tcPr>
                    <a:solidFill>
                      <a:srgbClr val="121C2A"/>
                    </a:solidFill>
                  </a:tcPr>
                </a:tc>
                <a:tc>
                  <a:txBody>
                    <a:bodyPr/>
                    <a:lstStyle/>
                    <a:p>
                      <a:pPr>
                        <a:defRPr sz="1050" b="0">
                          <a:solidFill>
                            <a:srgbClr val="F5F7FA"/>
                          </a:solidFill>
                        </a:defRPr>
                      </a:pPr>
                      <a:r>
                        <a:t>Single-site WWerx staffing file shows 62 FTE</a:t>
                      </a:r>
                    </a:p>
                  </a:txBody>
                  <a:tcPr>
                    <a:solidFill>
                      <a:srgbClr val="121C2A"/>
                    </a:solidFill>
                  </a:tcPr>
                </a:tc>
              </a:tr>
            </a:tbl>
          </a:graphicData>
        </a:graphic>
      </p:graphicFrame>
      <p:sp>
        <p:nvSpPr>
          <p:cNvPr id="4" name="Rounded Rectangle 3"/>
          <p:cNvSpPr/>
          <p:nvPr/>
        </p:nvSpPr>
        <p:spPr>
          <a:xfrm>
            <a:off x="5486400" y="1417320"/>
            <a:ext cx="5669280" cy="1965960"/>
          </a:xfrm>
          <a:prstGeom prst="roundRect">
            <a:avLst/>
          </a:prstGeom>
          <a:solidFill>
            <a:srgbClr val="182434"/>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Replication logic</a:t>
            </a:r>
          </a:p>
          <a:p>
            <a:pPr>
              <a:defRPr sz="1100">
                <a:solidFill>
                  <a:srgbClr val="F5F7FA"/>
                </a:solidFill>
              </a:defRPr>
            </a:pPr>
            <a:r>
              <a:t>Michigan is the proof-of-system state. Each completed site should leave behind reusable permitting pathways, financing templates, governance artifacts, and operating evidence that lower the cost and risk of the next state SPV.</a:t>
            </a:r>
          </a:p>
        </p:txBody>
      </p:sp>
      <p:sp>
        <p:nvSpPr>
          <p:cNvPr id="5" name="Rounded Rectangle 4"/>
          <p:cNvSpPr/>
          <p:nvPr/>
        </p:nvSpPr>
        <p:spPr>
          <a:xfrm>
            <a:off x="5486400" y="3657600"/>
            <a:ext cx="5669280" cy="1234440"/>
          </a:xfrm>
          <a:prstGeom prst="roundRect">
            <a:avLst/>
          </a:prstGeom>
          <a:solidFill>
            <a:srgbClr val="121C2A"/>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Parent-holdco thesis</a:t>
            </a:r>
          </a:p>
          <a:p>
            <a:pPr>
              <a:defRPr sz="1100">
                <a:solidFill>
                  <a:srgbClr val="F5F7FA"/>
                </a:solidFill>
              </a:defRPr>
            </a:pPr>
            <a:r>
              <a:t>One parent holdco can sit above state nodes such as Michigan LTC, Nebraska LTC, and Alabama LTC while allowing each state platform to community-engage locally under common standards.</a:t>
            </a:r>
          </a:p>
        </p:txBody>
      </p:sp>
      <p:sp>
        <p:nvSpPr>
          <p:cNvPr id="6" name="Rectangle 5"/>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8" name="TextBox 7"/>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C141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lgn="l">
              <a:defRPr sz="2400" b="1">
                <a:solidFill>
                  <a:srgbClr val="F5F7FA"/>
                </a:solidFill>
              </a:defRPr>
            </a:pPr>
            <a:r>
              <a:t>Grant mapping — non-dilutive fuel around the private raise</a:t>
            </a:r>
          </a:p>
        </p:txBody>
      </p:sp>
      <p:graphicFrame>
        <p:nvGraphicFramePr>
          <p:cNvPr id="3" name="Table 2"/>
          <p:cNvGraphicFramePr>
            <a:graphicFrameLocks noGrp="1"/>
          </p:cNvGraphicFramePr>
          <p:nvPr/>
        </p:nvGraphicFramePr>
        <p:xfrm>
          <a:off x="640080" y="1325880"/>
          <a:ext cx="6720840" cy="3566160"/>
        </p:xfrm>
        <a:graphic>
          <a:graphicData uri="http://schemas.openxmlformats.org/drawingml/2006/table">
            <a:tbl>
              <a:tblPr firstRow="1" bandRow="1">
                <a:tableStyleId>{5C22544A-7EE6-4342-B048-85BDC9FD1C3A}</a:tableStyleId>
              </a:tblPr>
              <a:tblGrid>
                <a:gridCol w="2240280"/>
                <a:gridCol w="2240280"/>
                <a:gridCol w="2240280"/>
              </a:tblGrid>
              <a:tr h="509451">
                <a:tc>
                  <a:txBody>
                    <a:bodyPr/>
                    <a:lstStyle/>
                    <a:p>
                      <a:pPr>
                        <a:defRPr sz="1100" b="1">
                          <a:solidFill>
                            <a:srgbClr val="0C141F"/>
                          </a:solidFill>
                        </a:defRPr>
                      </a:pPr>
                      <a:r>
                        <a:t>Lane</a:t>
                      </a:r>
                    </a:p>
                  </a:txBody>
                  <a:tcPr>
                    <a:solidFill>
                      <a:srgbClr val="D9AF6B"/>
                    </a:solidFill>
                  </a:tcPr>
                </a:tc>
                <a:tc>
                  <a:txBody>
                    <a:bodyPr/>
                    <a:lstStyle/>
                    <a:p>
                      <a:pPr>
                        <a:defRPr sz="1100" b="1">
                          <a:solidFill>
                            <a:srgbClr val="0C141F"/>
                          </a:solidFill>
                        </a:defRPr>
                      </a:pPr>
                      <a:r>
                        <a:t>Best fit</a:t>
                      </a:r>
                    </a:p>
                  </a:txBody>
                  <a:tcPr>
                    <a:solidFill>
                      <a:srgbClr val="D9AF6B"/>
                    </a:solidFill>
                  </a:tcPr>
                </a:tc>
                <a:tc>
                  <a:txBody>
                    <a:bodyPr/>
                    <a:lstStyle/>
                    <a:p>
                      <a:pPr>
                        <a:defRPr sz="1100" b="1">
                          <a:solidFill>
                            <a:srgbClr val="0C141F"/>
                          </a:solidFill>
                        </a:defRPr>
                      </a:pPr>
                      <a:r>
                        <a:t>Current posture</a:t>
                      </a:r>
                    </a:p>
                  </a:txBody>
                  <a:tcPr>
                    <a:solidFill>
                      <a:srgbClr val="D9AF6B"/>
                    </a:solidFill>
                  </a:tcPr>
                </a:tc>
              </a:tr>
              <a:tr h="509451">
                <a:tc>
                  <a:txBody>
                    <a:bodyPr/>
                    <a:lstStyle/>
                    <a:p>
                      <a:pPr>
                        <a:defRPr sz="1050" b="0">
                          <a:solidFill>
                            <a:srgbClr val="F5F7FA"/>
                          </a:solidFill>
                        </a:defRPr>
                      </a:pPr>
                      <a:r>
                        <a:t>MI Healthy Climate Challenge</a:t>
                      </a:r>
                    </a:p>
                  </a:txBody>
                  <a:tcPr>
                    <a:solidFill>
                      <a:srgbClr val="121C2A"/>
                    </a:solidFill>
                  </a:tcPr>
                </a:tc>
                <a:tc>
                  <a:txBody>
                    <a:bodyPr/>
                    <a:lstStyle/>
                    <a:p>
                      <a:pPr>
                        <a:defRPr sz="1050" b="0">
                          <a:solidFill>
                            <a:srgbClr val="F5F7FA"/>
                          </a:solidFill>
                        </a:defRPr>
                      </a:pPr>
                      <a:r>
                        <a:t>Corridor-level</a:t>
                      </a:r>
                    </a:p>
                  </a:txBody>
                  <a:tcPr>
                    <a:solidFill>
                      <a:srgbClr val="121C2A"/>
                    </a:solidFill>
                  </a:tcPr>
                </a:tc>
                <a:tc>
                  <a:txBody>
                    <a:bodyPr/>
                    <a:lstStyle/>
                    <a:p>
                      <a:pPr>
                        <a:defRPr sz="1050" b="0">
                          <a:solidFill>
                            <a:srgbClr val="F5F7FA"/>
                          </a:solidFill>
                        </a:defRPr>
                      </a:pPr>
                      <a:r>
                        <a:t>Planning lane only; current official source says paused</a:t>
                      </a:r>
                    </a:p>
                  </a:txBody>
                  <a:tcPr>
                    <a:solidFill>
                      <a:srgbClr val="121C2A"/>
                    </a:solidFill>
                  </a:tcPr>
                </a:tc>
              </a:tr>
              <a:tr h="509451">
                <a:tc>
                  <a:txBody>
                    <a:bodyPr/>
                    <a:lstStyle/>
                    <a:p>
                      <a:pPr>
                        <a:defRPr sz="1050" b="0">
                          <a:solidFill>
                            <a:srgbClr val="F5F7FA"/>
                          </a:solidFill>
                        </a:defRPr>
                      </a:pPr>
                      <a:r>
                        <a:t>NextCycle Michigan</a:t>
                      </a:r>
                    </a:p>
                  </a:txBody>
                  <a:tcPr>
                    <a:solidFill>
                      <a:srgbClr val="121C2A"/>
                    </a:solidFill>
                  </a:tcPr>
                </a:tc>
                <a:tc>
                  <a:txBody>
                    <a:bodyPr/>
                    <a:lstStyle/>
                    <a:p>
                      <a:pPr>
                        <a:defRPr sz="1050" b="0">
                          <a:solidFill>
                            <a:srgbClr val="F5F7FA"/>
                          </a:solidFill>
                        </a:defRPr>
                      </a:pPr>
                      <a:r>
                        <a:t>All sites / corridor</a:t>
                      </a:r>
                    </a:p>
                  </a:txBody>
                  <a:tcPr>
                    <a:solidFill>
                      <a:srgbClr val="121C2A"/>
                    </a:solidFill>
                  </a:tcPr>
                </a:tc>
                <a:tc>
                  <a:txBody>
                    <a:bodyPr/>
                    <a:lstStyle/>
                    <a:p>
                      <a:pPr>
                        <a:defRPr sz="1050" b="0">
                          <a:solidFill>
                            <a:srgbClr val="F5F7FA"/>
                          </a:solidFill>
                        </a:defRPr>
                      </a:pPr>
                      <a:r>
                        <a:t>Active support ecosystem; award status [CONFIRM]</a:t>
                      </a:r>
                    </a:p>
                  </a:txBody>
                  <a:tcPr>
                    <a:solidFill>
                      <a:srgbClr val="121C2A"/>
                    </a:solidFill>
                  </a:tcPr>
                </a:tc>
              </a:tr>
              <a:tr h="509451">
                <a:tc>
                  <a:txBody>
                    <a:bodyPr/>
                    <a:lstStyle/>
                    <a:p>
                      <a:pPr>
                        <a:defRPr sz="1050" b="0">
                          <a:solidFill>
                            <a:srgbClr val="F5F7FA"/>
                          </a:solidFill>
                        </a:defRPr>
                      </a:pPr>
                      <a:r>
                        <a:t>Brownfield / EPA lanes</a:t>
                      </a:r>
                    </a:p>
                  </a:txBody>
                  <a:tcPr>
                    <a:solidFill>
                      <a:srgbClr val="121C2A"/>
                    </a:solidFill>
                  </a:tcPr>
                </a:tc>
                <a:tc>
                  <a:txBody>
                    <a:bodyPr/>
                    <a:lstStyle/>
                    <a:p>
                      <a:pPr>
                        <a:defRPr sz="1050" b="0">
                          <a:solidFill>
                            <a:srgbClr val="F5F7FA"/>
                          </a:solidFill>
                        </a:defRPr>
                      </a:pPr>
                      <a:r>
                        <a:t>Flint / Dort; Coldwater</a:t>
                      </a:r>
                    </a:p>
                  </a:txBody>
                  <a:tcPr>
                    <a:solidFill>
                      <a:srgbClr val="121C2A"/>
                    </a:solidFill>
                  </a:tcPr>
                </a:tc>
                <a:tc>
                  <a:txBody>
                    <a:bodyPr/>
                    <a:lstStyle/>
                    <a:p>
                      <a:pPr>
                        <a:defRPr sz="1050" b="0">
                          <a:solidFill>
                            <a:srgbClr val="F5F7FA"/>
                          </a:solidFill>
                        </a:defRPr>
                      </a:pPr>
                      <a:r>
                        <a:t>Diligence and environmental-readiness support</a:t>
                      </a:r>
                    </a:p>
                  </a:txBody>
                  <a:tcPr>
                    <a:solidFill>
                      <a:srgbClr val="121C2A"/>
                    </a:solidFill>
                  </a:tcPr>
                </a:tc>
              </a:tr>
              <a:tr h="509451">
                <a:tc>
                  <a:txBody>
                    <a:bodyPr/>
                    <a:lstStyle/>
                    <a:p>
                      <a:pPr>
                        <a:defRPr sz="1050" b="0">
                          <a:solidFill>
                            <a:srgbClr val="F5F7FA"/>
                          </a:solidFill>
                        </a:defRPr>
                      </a:pPr>
                      <a:r>
                        <a:t>USDA REAP / B&amp;I</a:t>
                      </a:r>
                    </a:p>
                  </a:txBody>
                  <a:tcPr>
                    <a:solidFill>
                      <a:srgbClr val="121C2A"/>
                    </a:solidFill>
                  </a:tcPr>
                </a:tc>
                <a:tc>
                  <a:txBody>
                    <a:bodyPr/>
                    <a:lstStyle/>
                    <a:p>
                      <a:pPr>
                        <a:defRPr sz="1050" b="0">
                          <a:solidFill>
                            <a:srgbClr val="F5F7FA"/>
                          </a:solidFill>
                        </a:defRPr>
                      </a:pPr>
                      <a:r>
                        <a:t>Coleman / rural sites</a:t>
                      </a:r>
                    </a:p>
                  </a:txBody>
                  <a:tcPr>
                    <a:solidFill>
                      <a:srgbClr val="121C2A"/>
                    </a:solidFill>
                  </a:tcPr>
                </a:tc>
                <a:tc>
                  <a:txBody>
                    <a:bodyPr/>
                    <a:lstStyle/>
                    <a:p>
                      <a:pPr>
                        <a:defRPr sz="1050" b="0">
                          <a:solidFill>
                            <a:srgbClr val="F5F7FA"/>
                          </a:solidFill>
                        </a:defRPr>
                      </a:pPr>
                      <a:r>
                        <a:t>Rural-only lane; site eligibility must be confirmed</a:t>
                      </a:r>
                    </a:p>
                  </a:txBody>
                  <a:tcPr>
                    <a:solidFill>
                      <a:srgbClr val="121C2A"/>
                    </a:solidFill>
                  </a:tcPr>
                </a:tc>
              </a:tr>
              <a:tr h="509451">
                <a:tc>
                  <a:txBody>
                    <a:bodyPr/>
                    <a:lstStyle/>
                    <a:p>
                      <a:pPr>
                        <a:defRPr sz="1050" b="0">
                          <a:solidFill>
                            <a:srgbClr val="F5F7FA"/>
                          </a:solidFill>
                        </a:defRPr>
                      </a:pPr>
                      <a:r>
                        <a:t>NMTC / OZ / EDA</a:t>
                      </a:r>
                    </a:p>
                  </a:txBody>
                  <a:tcPr>
                    <a:solidFill>
                      <a:srgbClr val="121C2A"/>
                    </a:solidFill>
                  </a:tcPr>
                </a:tc>
                <a:tc>
                  <a:txBody>
                    <a:bodyPr/>
                    <a:lstStyle/>
                    <a:p>
                      <a:pPr>
                        <a:defRPr sz="1050" b="0">
                          <a:solidFill>
                            <a:srgbClr val="F5F7FA"/>
                          </a:solidFill>
                        </a:defRPr>
                      </a:pPr>
                      <a:r>
                        <a:t>Flint / all sites</a:t>
                      </a:r>
                    </a:p>
                  </a:txBody>
                  <a:tcPr>
                    <a:solidFill>
                      <a:srgbClr val="121C2A"/>
                    </a:solidFill>
                  </a:tcPr>
                </a:tc>
                <a:tc>
                  <a:txBody>
                    <a:bodyPr/>
                    <a:lstStyle/>
                    <a:p>
                      <a:pPr>
                        <a:defRPr sz="1050" b="0">
                          <a:solidFill>
                            <a:srgbClr val="F5F7FA"/>
                          </a:solidFill>
                        </a:defRPr>
                      </a:pPr>
                      <a:r>
                        <a:t>Structuring and infrastructure lanes; tract/cycle checks remain</a:t>
                      </a:r>
                    </a:p>
                  </a:txBody>
                  <a:tcPr>
                    <a:solidFill>
                      <a:srgbClr val="121C2A"/>
                    </a:solidFill>
                  </a:tcPr>
                </a:tc>
              </a:tr>
              <a:tr h="509454">
                <a:tc>
                  <a:txBody>
                    <a:bodyPr/>
                    <a:lstStyle/>
                    <a:p>
                      <a:pPr>
                        <a:defRPr sz="1050" b="0">
                          <a:solidFill>
                            <a:srgbClr val="F5F7FA"/>
                          </a:solidFill>
                        </a:defRPr>
                      </a:pPr>
                      <a:r>
                        <a:t>45Q / 45Z / RIN</a:t>
                      </a:r>
                    </a:p>
                  </a:txBody>
                  <a:tcPr>
                    <a:solidFill>
                      <a:srgbClr val="121C2A"/>
                    </a:solidFill>
                  </a:tcPr>
                </a:tc>
                <a:tc>
                  <a:txBody>
                    <a:bodyPr/>
                    <a:lstStyle/>
                    <a:p>
                      <a:pPr>
                        <a:defRPr sz="1050" b="0">
                          <a:solidFill>
                            <a:srgbClr val="F5F7FA"/>
                          </a:solidFill>
                        </a:defRPr>
                      </a:pPr>
                      <a:r>
                        <a:t>Operating sites</a:t>
                      </a:r>
                    </a:p>
                  </a:txBody>
                  <a:tcPr>
                    <a:solidFill>
                      <a:srgbClr val="121C2A"/>
                    </a:solidFill>
                  </a:tcPr>
                </a:tc>
                <a:tc>
                  <a:txBody>
                    <a:bodyPr/>
                    <a:lstStyle/>
                    <a:p>
                      <a:pPr>
                        <a:defRPr sz="1050" b="0">
                          <a:solidFill>
                            <a:srgbClr val="F5F7FA"/>
                          </a:solidFill>
                        </a:defRPr>
                      </a:pPr>
                      <a:r>
                        <a:t>Post-qualification upside, not banked base-case cash</a:t>
                      </a:r>
                    </a:p>
                  </a:txBody>
                  <a:tcPr>
                    <a:solidFill>
                      <a:srgbClr val="121C2A"/>
                    </a:solidFill>
                  </a:tcPr>
                </a:tc>
              </a:tr>
            </a:tbl>
          </a:graphicData>
        </a:graphic>
      </p:graphicFrame>
      <p:sp>
        <p:nvSpPr>
          <p:cNvPr id="4" name="Rounded Rectangle 3"/>
          <p:cNvSpPr/>
          <p:nvPr/>
        </p:nvSpPr>
        <p:spPr>
          <a:xfrm>
            <a:off x="7589520" y="1325880"/>
            <a:ext cx="3840480" cy="1874519"/>
          </a:xfrm>
          <a:prstGeom prst="roundRect">
            <a:avLst/>
          </a:prstGeom>
          <a:solidFill>
            <a:srgbClr val="182434"/>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How to frame it</a:t>
            </a:r>
          </a:p>
          <a:p>
            <a:pPr>
              <a:defRPr sz="1100">
                <a:solidFill>
                  <a:srgbClr val="F5F7FA"/>
                </a:solidFill>
              </a:defRPr>
            </a:pPr>
            <a:r>
              <a:t>Grants are the fuel that get developers to the table, but they do not replace the core private raise. Present them as readiness, infrastructure, and de-risking lanes around investor capital.</a:t>
            </a:r>
          </a:p>
        </p:txBody>
      </p:sp>
      <p:sp>
        <p:nvSpPr>
          <p:cNvPr id="5" name="Rounded Rectangle 4"/>
          <p:cNvSpPr/>
          <p:nvPr/>
        </p:nvSpPr>
        <p:spPr>
          <a:xfrm>
            <a:off x="7589520" y="3520440"/>
            <a:ext cx="3840480" cy="1234440"/>
          </a:xfrm>
          <a:prstGeom prst="roundRect">
            <a:avLst/>
          </a:prstGeom>
          <a:solidFill>
            <a:srgbClr val="121C2A"/>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PublicLogic role</a:t>
            </a:r>
          </a:p>
          <a:p>
            <a:pPr>
              <a:defRPr sz="1100">
                <a:solidFill>
                  <a:srgbClr val="F5F7FA"/>
                </a:solidFill>
              </a:defRPr>
            </a:pPr>
            <a:r>
              <a:t>Continuity, compliance, and grant-stacking coordination — keeping applications sequenced, evidence reusable, and public-capital lanes distinct from the securities offering.</a:t>
            </a:r>
          </a:p>
        </p:txBody>
      </p:sp>
      <p:sp>
        <p:nvSpPr>
          <p:cNvPr id="6" name="Rounded Rectangle 5"/>
          <p:cNvSpPr/>
          <p:nvPr/>
        </p:nvSpPr>
        <p:spPr>
          <a:xfrm>
            <a:off x="6400800" y="5486400"/>
            <a:ext cx="5212080" cy="566928"/>
          </a:xfrm>
          <a:prstGeom prst="roundRect">
            <a:avLst/>
          </a:prstGeom>
          <a:solidFill>
            <a:srgbClr val="481818"/>
          </a:solidFill>
          <a:ln>
            <a:solidFill>
              <a:srgbClr val="E05F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E4E4"/>
                </a:solidFill>
              </a:defRPr>
            </a:pPr>
            <a:r>
              <a:t>[CONFIRM] NextCycle award status, OZ tract qualification, and current EGLE scrap-tire / USDA site applicability before final send.</a:t>
            </a:r>
          </a:p>
        </p:txBody>
      </p:sp>
      <p:sp>
        <p:nvSpPr>
          <p:cNvPr id="7" name="Rectangle 6"/>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9" name="TextBox 8"/>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C141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lgn="l">
              <a:defRPr sz="2400" b="1">
                <a:solidFill>
                  <a:srgbClr val="F5F7FA"/>
                </a:solidFill>
              </a:defRPr>
            </a:pPr>
            <a:r>
              <a:t>The economic generator and the community investment are the same system</a:t>
            </a:r>
          </a:p>
        </p:txBody>
      </p:sp>
      <p:sp>
        <p:nvSpPr>
          <p:cNvPr id="3" name="TextBox 2"/>
          <p:cNvSpPr txBox="1"/>
          <p:nvPr/>
        </p:nvSpPr>
        <p:spPr>
          <a:xfrm>
            <a:off x="731520" y="1371600"/>
            <a:ext cx="5394960" cy="4389120"/>
          </a:xfrm>
          <a:prstGeom prst="rect">
            <a:avLst/>
          </a:prstGeom>
          <a:noFill/>
        </p:spPr>
        <p:txBody>
          <a:bodyPr wrap="square" lIns="101600" rIns="76200" tIns="76200">
            <a:spAutoFit/>
          </a:bodyPr>
          <a:lstStyle/>
          <a:p>
            <a:pPr>
              <a:spcAft>
                <a:spcPts val="1000"/>
              </a:spcAft>
              <a:defRPr sz="1800">
                <a:solidFill>
                  <a:srgbClr val="F5F7FA"/>
                </a:solidFill>
              </a:defRPr>
            </a:pPr>
            <a:r>
              <a:t>Community participation is presented as a structural operating feature, not a marketing add-on.</a:t>
            </a:r>
          </a:p>
          <a:p>
            <a:pPr>
              <a:spcAft>
                <a:spcPts val="1000"/>
              </a:spcAft>
              <a:defRPr sz="1800">
                <a:solidFill>
                  <a:srgbClr val="F5F7FA"/>
                </a:solidFill>
              </a:defRPr>
            </a:pPr>
            <a:r>
              <a:t>Source-supported community channels include The Warehouse / Gen 215 and workforce / food-system programming tied to ACS Cooperative and University of Arizona-linked work.</a:t>
            </a:r>
          </a:p>
          <a:p>
            <a:pPr>
              <a:spcAft>
                <a:spcPts val="1000"/>
              </a:spcAft>
              <a:defRPr sz="1800">
                <a:solidFill>
                  <a:srgbClr val="F5F7FA"/>
                </a:solidFill>
              </a:defRPr>
            </a:pPr>
            <a:r>
              <a:t>Sponsor direction also references housing / PUD homeownership pathways, but those are not yet documented in the source set.</a:t>
            </a:r>
          </a:p>
          <a:p>
            <a:pPr>
              <a:spcAft>
                <a:spcPts val="1000"/>
              </a:spcAft>
              <a:defRPr sz="1800">
                <a:solidFill>
                  <a:srgbClr val="F5F7FA"/>
                </a:solidFill>
              </a:defRPr>
            </a:pPr>
            <a:r>
              <a:t>The structure belongs in the deck now; the exact formula does not.</a:t>
            </a:r>
          </a:p>
        </p:txBody>
      </p:sp>
      <p:sp>
        <p:nvSpPr>
          <p:cNvPr id="4" name="Rounded Rectangle 3"/>
          <p:cNvSpPr/>
          <p:nvPr/>
        </p:nvSpPr>
        <p:spPr>
          <a:xfrm>
            <a:off x="6400800" y="5486400"/>
            <a:ext cx="5212080" cy="566928"/>
          </a:xfrm>
          <a:prstGeom prst="roundRect">
            <a:avLst/>
          </a:prstGeom>
          <a:solidFill>
            <a:srgbClr val="481818"/>
          </a:solidFill>
          <a:ln>
            <a:solidFill>
              <a:srgbClr val="E05F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E4E4"/>
                </a:solidFill>
              </a:defRPr>
            </a:pPr>
            <a:r>
              <a:t>[CONFIRM] Community-benefit percentage, split, and any housing / PUD mechanism before send.</a:t>
            </a:r>
          </a:p>
        </p:txBody>
      </p:sp>
      <p:sp>
        <p:nvSpPr>
          <p:cNvPr id="5" name="Rectangle 4"/>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7" name="TextBox 6"/>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C141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lgn="l">
              <a:defRPr sz="2400" b="1">
                <a:solidFill>
                  <a:srgbClr val="F5F7FA"/>
                </a:solidFill>
              </a:defRPr>
            </a:pPr>
            <a:r>
              <a:t>Management, partners, and continuity systems</a:t>
            </a:r>
          </a:p>
        </p:txBody>
      </p:sp>
      <p:sp>
        <p:nvSpPr>
          <p:cNvPr id="3" name="TextBox 2"/>
          <p:cNvSpPr txBox="1"/>
          <p:nvPr/>
        </p:nvSpPr>
        <p:spPr>
          <a:xfrm>
            <a:off x="731520" y="1371600"/>
            <a:ext cx="5394960" cy="4389120"/>
          </a:xfrm>
          <a:prstGeom prst="rect">
            <a:avLst/>
          </a:prstGeom>
          <a:noFill/>
        </p:spPr>
        <p:txBody>
          <a:bodyPr wrap="square" lIns="101600" rIns="76200" tIns="76200">
            <a:spAutoFit/>
          </a:bodyPr>
          <a:lstStyle/>
          <a:p>
            <a:pPr>
              <a:spcAft>
                <a:spcPts val="1000"/>
              </a:spcAft>
              <a:defRPr sz="1800">
                <a:solidFill>
                  <a:srgbClr val="F5F7FA"/>
                </a:solidFill>
              </a:defRPr>
            </a:pPr>
            <a:r>
              <a:t>Officers: Robert C. McCall Jr. — President; Glen Scharer — Vice President; Garrett Schopp — Secretary/Treasurer.</a:t>
            </a:r>
          </a:p>
          <a:p>
            <a:pPr>
              <a:spcAft>
                <a:spcPts val="1000"/>
              </a:spcAft>
              <a:defRPr sz="1800">
                <a:solidFill>
                  <a:srgbClr val="F5F7FA"/>
                </a:solidFill>
              </a:defRPr>
            </a:pPr>
            <a:r>
              <a:t>Core partners named in the source set: National Salvage, Geocycle, WasteWerx, Carbon Alliance, Acadia Capital, PublicLogic, and University of Arizona-linked community/workforce partners.</a:t>
            </a:r>
          </a:p>
          <a:p>
            <a:pPr>
              <a:spcAft>
                <a:spcPts val="1000"/>
              </a:spcAft>
              <a:defRPr sz="1800">
                <a:solidFill>
                  <a:srgbClr val="F5F7FA"/>
                </a:solidFill>
              </a:defRPr>
            </a:pPr>
            <a:r>
              <a:t>PublicLogic’s role is governance, compliance, documentation, continuity, and grant-stacking support — the institutional spine, not a placement agent.</a:t>
            </a:r>
          </a:p>
          <a:p>
            <a:pPr>
              <a:spcAft>
                <a:spcPts val="1000"/>
              </a:spcAft>
              <a:defRPr sz="1800">
                <a:solidFill>
                  <a:srgbClr val="F5F7FA"/>
                </a:solidFill>
              </a:defRPr>
            </a:pPr>
            <a:r>
              <a:t>National Salvage should be described as the largest treated-wood recycler in the United States unless stronger evidence is produced.</a:t>
            </a:r>
          </a:p>
        </p:txBody>
      </p:sp>
      <p:sp>
        <p:nvSpPr>
          <p:cNvPr id="4" name="Rectangle 3"/>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6" name="TextBox 5"/>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C141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lgn="l">
              <a:defRPr sz="2400" b="1">
                <a:solidFill>
                  <a:srgbClr val="F5F7FA"/>
                </a:solidFill>
              </a:defRPr>
            </a:pPr>
            <a:r>
              <a:t>Two asks, clearly separated</a:t>
            </a:r>
          </a:p>
        </p:txBody>
      </p:sp>
      <p:graphicFrame>
        <p:nvGraphicFramePr>
          <p:cNvPr id="3" name="Table 2"/>
          <p:cNvGraphicFramePr>
            <a:graphicFrameLocks noGrp="1"/>
          </p:cNvGraphicFramePr>
          <p:nvPr/>
        </p:nvGraphicFramePr>
        <p:xfrm>
          <a:off x="685800" y="1463040"/>
          <a:ext cx="6537960" cy="2560320"/>
        </p:xfrm>
        <a:graphic>
          <a:graphicData uri="http://schemas.openxmlformats.org/drawingml/2006/table">
            <a:tbl>
              <a:tblPr firstRow="1" bandRow="1">
                <a:tableStyleId>{5C22544A-7EE6-4342-B048-85BDC9FD1C3A}</a:tableStyleId>
              </a:tblPr>
              <a:tblGrid>
                <a:gridCol w="2179320"/>
                <a:gridCol w="2179320"/>
                <a:gridCol w="2179320"/>
              </a:tblGrid>
              <a:tr h="512064">
                <a:tc>
                  <a:txBody>
                    <a:bodyPr/>
                    <a:lstStyle/>
                    <a:p>
                      <a:pPr>
                        <a:defRPr sz="1100" b="1">
                          <a:solidFill>
                            <a:srgbClr val="0C141F"/>
                          </a:solidFill>
                        </a:defRPr>
                      </a:pPr>
                      <a:r>
                        <a:t>Raise</a:t>
                      </a:r>
                    </a:p>
                  </a:txBody>
                  <a:tcPr>
                    <a:solidFill>
                      <a:srgbClr val="D9AF6B"/>
                    </a:solidFill>
                  </a:tcPr>
                </a:tc>
                <a:tc>
                  <a:txBody>
                    <a:bodyPr/>
                    <a:lstStyle/>
                    <a:p>
                      <a:pPr>
                        <a:defRPr sz="1100" b="1">
                          <a:solidFill>
                            <a:srgbClr val="0C141F"/>
                          </a:solidFill>
                        </a:defRPr>
                      </a:pPr>
                      <a:r>
                        <a:t>Amount</a:t>
                      </a:r>
                    </a:p>
                  </a:txBody>
                  <a:tcPr>
                    <a:solidFill>
                      <a:srgbClr val="D9AF6B"/>
                    </a:solidFill>
                  </a:tcPr>
                </a:tc>
                <a:tc>
                  <a:txBody>
                    <a:bodyPr/>
                    <a:lstStyle/>
                    <a:p>
                      <a:pPr>
                        <a:defRPr sz="1100" b="1">
                          <a:solidFill>
                            <a:srgbClr val="0C141F"/>
                          </a:solidFill>
                        </a:defRPr>
                      </a:pPr>
                      <a:r>
                        <a:t>Purpose</a:t>
                      </a:r>
                    </a:p>
                  </a:txBody>
                  <a:tcPr>
                    <a:solidFill>
                      <a:srgbClr val="D9AF6B"/>
                    </a:solidFill>
                  </a:tcPr>
                </a:tc>
              </a:tr>
              <a:tr h="512064">
                <a:tc>
                  <a:txBody>
                    <a:bodyPr/>
                    <a:lstStyle/>
                    <a:p>
                      <a:pPr>
                        <a:defRPr sz="1050" b="0">
                          <a:solidFill>
                            <a:srgbClr val="F5F7FA"/>
                          </a:solidFill>
                        </a:defRPr>
                      </a:pPr>
                      <a:r>
                        <a:t>Per-site project raise</a:t>
                      </a:r>
                    </a:p>
                  </a:txBody>
                  <a:tcPr>
                    <a:solidFill>
                      <a:srgbClr val="121C2A"/>
                    </a:solidFill>
                  </a:tcPr>
                </a:tc>
                <a:tc>
                  <a:txBody>
                    <a:bodyPr/>
                    <a:lstStyle/>
                    <a:p>
                      <a:pPr>
                        <a:defRPr sz="1050" b="0">
                          <a:solidFill>
                            <a:srgbClr val="F5F7FA"/>
                          </a:solidFill>
                        </a:defRPr>
                      </a:pPr>
                      <a:r>
                        <a:t>$15,000,000 per site</a:t>
                      </a:r>
                    </a:p>
                  </a:txBody>
                  <a:tcPr>
                    <a:solidFill>
                      <a:srgbClr val="121C2A"/>
                    </a:solidFill>
                  </a:tcPr>
                </a:tc>
                <a:tc>
                  <a:txBody>
                    <a:bodyPr/>
                    <a:lstStyle/>
                    <a:p>
                      <a:pPr>
                        <a:defRPr sz="1050" b="0">
                          <a:solidFill>
                            <a:srgbClr val="F5F7FA"/>
                          </a:solidFill>
                        </a:defRPr>
                      </a:pPr>
                      <a:r>
                        <a:t>Deployment, integration, commissioning, contingency, payroll, training</a:t>
                      </a:r>
                    </a:p>
                  </a:txBody>
                  <a:tcPr>
                    <a:solidFill>
                      <a:srgbClr val="121C2A"/>
                    </a:solidFill>
                  </a:tcPr>
                </a:tc>
              </a:tr>
              <a:tr h="512064">
                <a:tc>
                  <a:txBody>
                    <a:bodyPr/>
                    <a:lstStyle/>
                    <a:p>
                      <a:pPr>
                        <a:defRPr sz="1050" b="0">
                          <a:solidFill>
                            <a:srgbClr val="F5F7FA"/>
                          </a:solidFill>
                        </a:defRPr>
                      </a:pPr>
                      <a:r>
                        <a:t>Three-site project total</a:t>
                      </a:r>
                    </a:p>
                  </a:txBody>
                  <a:tcPr>
                    <a:solidFill>
                      <a:srgbClr val="121C2A"/>
                    </a:solidFill>
                  </a:tcPr>
                </a:tc>
                <a:tc>
                  <a:txBody>
                    <a:bodyPr/>
                    <a:lstStyle/>
                    <a:p>
                      <a:pPr>
                        <a:defRPr sz="1050" b="0">
                          <a:solidFill>
                            <a:srgbClr val="F5F7FA"/>
                          </a:solidFill>
                        </a:defRPr>
                      </a:pPr>
                      <a:r>
                        <a:t>$45,000,000</a:t>
                      </a:r>
                    </a:p>
                  </a:txBody>
                  <a:tcPr>
                    <a:solidFill>
                      <a:srgbClr val="121C2A"/>
                    </a:solidFill>
                  </a:tcPr>
                </a:tc>
                <a:tc>
                  <a:txBody>
                    <a:bodyPr/>
                    <a:lstStyle/>
                    <a:p>
                      <a:pPr>
                        <a:defRPr sz="1050" b="0">
                          <a:solidFill>
                            <a:srgbClr val="F5F7FA"/>
                          </a:solidFill>
                        </a:defRPr>
                      </a:pPr>
                      <a:r>
                        <a:t>Three Michigan site raises</a:t>
                      </a:r>
                    </a:p>
                  </a:txBody>
                  <a:tcPr>
                    <a:solidFill>
                      <a:srgbClr val="121C2A"/>
                    </a:solidFill>
                  </a:tcPr>
                </a:tc>
              </a:tr>
              <a:tr h="512064">
                <a:tc>
                  <a:txBody>
                    <a:bodyPr/>
                    <a:lstStyle/>
                    <a:p>
                      <a:pPr>
                        <a:defRPr sz="1050" b="0">
                          <a:solidFill>
                            <a:srgbClr val="F5F7FA"/>
                          </a:solidFill>
                        </a:defRPr>
                      </a:pPr>
                      <a:r>
                        <a:t>Company-level raise</a:t>
                      </a:r>
                    </a:p>
                  </a:txBody>
                  <a:tcPr>
                    <a:solidFill>
                      <a:srgbClr val="121C2A"/>
                    </a:solidFill>
                  </a:tcPr>
                </a:tc>
                <a:tc>
                  <a:txBody>
                    <a:bodyPr/>
                    <a:lstStyle/>
                    <a:p>
                      <a:pPr>
                        <a:defRPr sz="1050" b="0">
                          <a:solidFill>
                            <a:srgbClr val="F5F7FA"/>
                          </a:solidFill>
                        </a:defRPr>
                      </a:pPr>
                      <a:r>
                        <a:t>$2,500,000</a:t>
                      </a:r>
                    </a:p>
                  </a:txBody>
                  <a:tcPr>
                    <a:solidFill>
                      <a:srgbClr val="121C2A"/>
                    </a:solidFill>
                  </a:tcPr>
                </a:tc>
                <a:tc>
                  <a:txBody>
                    <a:bodyPr/>
                    <a:lstStyle/>
                    <a:p>
                      <a:pPr>
                        <a:defRPr sz="1050" b="0">
                          <a:solidFill>
                            <a:srgbClr val="F5F7FA"/>
                          </a:solidFill>
                        </a:defRPr>
                      </a:pPr>
                      <a:r>
                        <a:t>Working capital, payroll, governance/documentation, team buildout</a:t>
                      </a:r>
                    </a:p>
                  </a:txBody>
                  <a:tcPr>
                    <a:solidFill>
                      <a:srgbClr val="121C2A"/>
                    </a:solidFill>
                  </a:tcPr>
                </a:tc>
              </a:tr>
              <a:tr h="512064">
                <a:tc>
                  <a:txBody>
                    <a:bodyPr/>
                    <a:lstStyle/>
                    <a:p>
                      <a:pPr>
                        <a:defRPr sz="1050" b="0">
                          <a:solidFill>
                            <a:srgbClr val="F5F7FA"/>
                          </a:solidFill>
                        </a:defRPr>
                      </a:pPr>
                      <a:r>
                        <a:t>Combined discussion total</a:t>
                      </a:r>
                    </a:p>
                  </a:txBody>
                  <a:tcPr>
                    <a:solidFill>
                      <a:srgbClr val="121C2A"/>
                    </a:solidFill>
                  </a:tcPr>
                </a:tc>
                <a:tc>
                  <a:txBody>
                    <a:bodyPr/>
                    <a:lstStyle/>
                    <a:p>
                      <a:pPr>
                        <a:defRPr sz="1050" b="0">
                          <a:solidFill>
                            <a:srgbClr val="F5F7FA"/>
                          </a:solidFill>
                        </a:defRPr>
                      </a:pPr>
                      <a:r>
                        <a:t>$47,500,000</a:t>
                      </a:r>
                    </a:p>
                  </a:txBody>
                  <a:tcPr>
                    <a:solidFill>
                      <a:srgbClr val="121C2A"/>
                    </a:solidFill>
                  </a:tcPr>
                </a:tc>
                <a:tc>
                  <a:txBody>
                    <a:bodyPr/>
                    <a:lstStyle/>
                    <a:p>
                      <a:pPr>
                        <a:defRPr sz="1050" b="0">
                          <a:solidFill>
                            <a:srgbClr val="F5F7FA"/>
                          </a:solidFill>
                        </a:defRPr>
                      </a:pPr>
                      <a:r>
                        <a:t>Keep company raise separate from site totals</a:t>
                      </a:r>
                    </a:p>
                  </a:txBody>
                  <a:tcPr>
                    <a:solidFill>
                      <a:srgbClr val="121C2A"/>
                    </a:solidFill>
                  </a:tcPr>
                </a:tc>
              </a:tr>
            </a:tbl>
          </a:graphicData>
        </a:graphic>
      </p:graphicFrame>
      <p:graphicFrame>
        <p:nvGraphicFramePr>
          <p:cNvPr id="4" name="Table 3"/>
          <p:cNvGraphicFramePr>
            <a:graphicFrameLocks noGrp="1"/>
          </p:cNvGraphicFramePr>
          <p:nvPr/>
        </p:nvGraphicFramePr>
        <p:xfrm>
          <a:off x="7452360" y="1463040"/>
          <a:ext cx="4069080" cy="2560320"/>
        </p:xfrm>
        <a:graphic>
          <a:graphicData uri="http://schemas.openxmlformats.org/drawingml/2006/table">
            <a:tbl>
              <a:tblPr firstRow="1" bandRow="1">
                <a:tableStyleId>{5C22544A-7EE6-4342-B048-85BDC9FD1C3A}</a:tableStyleId>
              </a:tblPr>
              <a:tblGrid>
                <a:gridCol w="2034540"/>
                <a:gridCol w="2034540"/>
              </a:tblGrid>
              <a:tr h="426720">
                <a:tc>
                  <a:txBody>
                    <a:bodyPr/>
                    <a:lstStyle/>
                    <a:p>
                      <a:pPr>
                        <a:defRPr sz="1100" b="1">
                          <a:solidFill>
                            <a:srgbClr val="0C141F"/>
                          </a:solidFill>
                        </a:defRPr>
                      </a:pPr>
                      <a:r>
                        <a:t>Rough per-site use of funds</a:t>
                      </a:r>
                    </a:p>
                  </a:txBody>
                  <a:tcPr>
                    <a:solidFill>
                      <a:srgbClr val="D9AF6B"/>
                    </a:solidFill>
                  </a:tcPr>
                </a:tc>
                <a:tc>
                  <a:txBody>
                    <a:bodyPr/>
                    <a:lstStyle/>
                    <a:p>
                      <a:pPr>
                        <a:defRPr sz="1100" b="1">
                          <a:solidFill>
                            <a:srgbClr val="0C141F"/>
                          </a:solidFill>
                        </a:defRPr>
                      </a:pPr>
                      <a:r>
                        <a:t>Amount</a:t>
                      </a:r>
                    </a:p>
                  </a:txBody>
                  <a:tcPr>
                    <a:solidFill>
                      <a:srgbClr val="D9AF6B"/>
                    </a:solidFill>
                  </a:tcPr>
                </a:tc>
              </a:tr>
              <a:tr h="426720">
                <a:tc>
                  <a:txBody>
                    <a:bodyPr/>
                    <a:lstStyle/>
                    <a:p>
                      <a:pPr>
                        <a:defRPr sz="1050" b="0">
                          <a:solidFill>
                            <a:srgbClr val="F5F7FA"/>
                          </a:solidFill>
                        </a:defRPr>
                      </a:pPr>
                      <a:r>
                        <a:t>Build / core plant</a:t>
                      </a:r>
                    </a:p>
                  </a:txBody>
                  <a:tcPr>
                    <a:solidFill>
                      <a:srgbClr val="121C2A"/>
                    </a:solidFill>
                  </a:tcPr>
                </a:tc>
                <a:tc>
                  <a:txBody>
                    <a:bodyPr/>
                    <a:lstStyle/>
                    <a:p>
                      <a:pPr>
                        <a:defRPr sz="1050" b="0">
                          <a:solidFill>
                            <a:srgbClr val="F5F7FA"/>
                          </a:solidFill>
                        </a:defRPr>
                      </a:pPr>
                      <a:r>
                        <a:t>~$8,000,000</a:t>
                      </a:r>
                    </a:p>
                  </a:txBody>
                  <a:tcPr>
                    <a:solidFill>
                      <a:srgbClr val="121C2A"/>
                    </a:solidFill>
                  </a:tcPr>
                </a:tc>
              </a:tr>
              <a:tr h="426720">
                <a:tc>
                  <a:txBody>
                    <a:bodyPr/>
                    <a:lstStyle/>
                    <a:p>
                      <a:pPr>
                        <a:defRPr sz="1050" b="0">
                          <a:solidFill>
                            <a:srgbClr val="F5F7FA"/>
                          </a:solidFill>
                        </a:defRPr>
                      </a:pPr>
                      <a:r>
                        <a:t>Added construction</a:t>
                      </a:r>
                    </a:p>
                  </a:txBody>
                  <a:tcPr>
                    <a:solidFill>
                      <a:srgbClr val="121C2A"/>
                    </a:solidFill>
                  </a:tcPr>
                </a:tc>
                <a:tc>
                  <a:txBody>
                    <a:bodyPr/>
                    <a:lstStyle/>
                    <a:p>
                      <a:pPr>
                        <a:defRPr sz="1050" b="0">
                          <a:solidFill>
                            <a:srgbClr val="F5F7FA"/>
                          </a:solidFill>
                        </a:defRPr>
                      </a:pPr>
                      <a:r>
                        <a:t>~$1,000,000</a:t>
                      </a:r>
                    </a:p>
                  </a:txBody>
                  <a:tcPr>
                    <a:solidFill>
                      <a:srgbClr val="121C2A"/>
                    </a:solidFill>
                  </a:tcPr>
                </a:tc>
              </a:tr>
              <a:tr h="426720">
                <a:tc>
                  <a:txBody>
                    <a:bodyPr/>
                    <a:lstStyle/>
                    <a:p>
                      <a:pPr>
                        <a:defRPr sz="1050" b="0">
                          <a:solidFill>
                            <a:srgbClr val="F5F7FA"/>
                          </a:solidFill>
                        </a:defRPr>
                      </a:pPr>
                      <a:r>
                        <a:t>Pre-processing equipment</a:t>
                      </a:r>
                    </a:p>
                  </a:txBody>
                  <a:tcPr>
                    <a:solidFill>
                      <a:srgbClr val="121C2A"/>
                    </a:solidFill>
                  </a:tcPr>
                </a:tc>
                <a:tc>
                  <a:txBody>
                    <a:bodyPr/>
                    <a:lstStyle/>
                    <a:p>
                      <a:pPr>
                        <a:defRPr sz="1050" b="0">
                          <a:solidFill>
                            <a:srgbClr val="F5F7FA"/>
                          </a:solidFill>
                        </a:defRPr>
                      </a:pPr>
                      <a:r>
                        <a:t>$2,000,000</a:t>
                      </a:r>
                    </a:p>
                  </a:txBody>
                  <a:tcPr>
                    <a:solidFill>
                      <a:srgbClr val="121C2A"/>
                    </a:solidFill>
                  </a:tcPr>
                </a:tc>
              </a:tr>
              <a:tr h="426720">
                <a:tc>
                  <a:txBody>
                    <a:bodyPr/>
                    <a:lstStyle/>
                    <a:p>
                      <a:pPr>
                        <a:defRPr sz="1050" b="0">
                          <a:solidFill>
                            <a:srgbClr val="F5F7FA"/>
                          </a:solidFill>
                        </a:defRPr>
                      </a:pPr>
                      <a:r>
                        <a:t>Contingency / fees / payroll / training</a:t>
                      </a:r>
                    </a:p>
                  </a:txBody>
                  <a:tcPr>
                    <a:solidFill>
                      <a:srgbClr val="121C2A"/>
                    </a:solidFill>
                  </a:tcPr>
                </a:tc>
                <a:tc>
                  <a:txBody>
                    <a:bodyPr/>
                    <a:lstStyle/>
                    <a:p>
                      <a:pPr>
                        <a:defRPr sz="1050" b="0">
                          <a:solidFill>
                            <a:srgbClr val="F5F7FA"/>
                          </a:solidFill>
                        </a:defRPr>
                      </a:pPr>
                      <a:r>
                        <a:t>~$5,000,000</a:t>
                      </a:r>
                    </a:p>
                  </a:txBody>
                  <a:tcPr>
                    <a:solidFill>
                      <a:srgbClr val="121C2A"/>
                    </a:solidFill>
                  </a:tcPr>
                </a:tc>
              </a:tr>
              <a:tr h="426720">
                <a:tc>
                  <a:txBody>
                    <a:bodyPr/>
                    <a:lstStyle/>
                    <a:p>
                      <a:pPr>
                        <a:defRPr sz="1050" b="0">
                          <a:solidFill>
                            <a:srgbClr val="F5F7FA"/>
                          </a:solidFill>
                        </a:defRPr>
                      </a:pPr>
                      <a:r>
                        <a:t>Rough subtotal</a:t>
                      </a:r>
                    </a:p>
                  </a:txBody>
                  <a:tcPr>
                    <a:solidFill>
                      <a:srgbClr val="121C2A"/>
                    </a:solidFill>
                  </a:tcPr>
                </a:tc>
                <a:tc>
                  <a:txBody>
                    <a:bodyPr/>
                    <a:lstStyle/>
                    <a:p>
                      <a:pPr>
                        <a:defRPr sz="1050" b="0">
                          <a:solidFill>
                            <a:srgbClr val="F5F7FA"/>
                          </a:solidFill>
                        </a:defRPr>
                      </a:pPr>
                      <a:r>
                        <a:t>~$16,000,000</a:t>
                      </a:r>
                    </a:p>
                  </a:txBody>
                  <a:tcPr>
                    <a:solidFill>
                      <a:srgbClr val="121C2A"/>
                    </a:solidFill>
                  </a:tcPr>
                </a:tc>
              </a:tr>
            </a:tbl>
          </a:graphicData>
        </a:graphic>
      </p:graphicFrame>
      <p:sp>
        <p:nvSpPr>
          <p:cNvPr id="5" name="Rounded Rectangle 4"/>
          <p:cNvSpPr/>
          <p:nvPr/>
        </p:nvSpPr>
        <p:spPr>
          <a:xfrm>
            <a:off x="6400800" y="5486400"/>
            <a:ext cx="5212080" cy="566928"/>
          </a:xfrm>
          <a:prstGeom prst="roundRect">
            <a:avLst/>
          </a:prstGeom>
          <a:solidFill>
            <a:srgbClr val="481818"/>
          </a:solidFill>
          <a:ln>
            <a:solidFill>
              <a:srgbClr val="E05F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E4E4"/>
                </a:solidFill>
              </a:defRPr>
            </a:pPr>
            <a:r>
              <a:t>[CONFIRM] Rough sponsor uses sum to ~$16M, not $15M; reconcile the gap and map the new 62-FTE staffing pro forma into the payroll/training line before investor circulation.</a:t>
            </a:r>
          </a:p>
        </p:txBody>
      </p:sp>
      <p:sp>
        <p:nvSpPr>
          <p:cNvPr id="6" name="Rectangle 5"/>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8" name="TextBox 7"/>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11B"/>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none">
            <a:spAutoFit/>
          </a:bodyPr>
          <a:lstStyle/>
          <a:p>
            <a:pPr algn="l">
              <a:defRPr sz="2400" b="1">
                <a:solidFill>
                  <a:srgbClr val="F5F7FA"/>
                </a:solidFill>
              </a:defRPr>
            </a:pPr>
            <a:r>
              <a:t>Closing discipline</a:t>
            </a:r>
          </a:p>
        </p:txBody>
      </p:sp>
      <p:sp>
        <p:nvSpPr>
          <p:cNvPr id="3" name="Rounded Rectangle 2"/>
          <p:cNvSpPr/>
          <p:nvPr/>
        </p:nvSpPr>
        <p:spPr>
          <a:xfrm>
            <a:off x="731520" y="1463040"/>
            <a:ext cx="5257800" cy="3108960"/>
          </a:xfrm>
          <a:prstGeom prst="roundRect">
            <a:avLst/>
          </a:prstGeom>
          <a:solidFill>
            <a:srgbClr val="182434"/>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Before circulation</a:t>
            </a:r>
          </a:p>
          <a:p>
            <a:pPr>
              <a:defRPr sz="1100">
                <a:solidFill>
                  <a:srgbClr val="F5F7FA"/>
                </a:solidFill>
              </a:defRPr>
            </a:pPr>
            <a:r>
              <a:t>1. Lock final site list</a:t>
            </a:r>
            <a:br/>
            <a:r>
              <a:t>2. Confirm parent holdco legal name and entity chart</a:t>
            </a:r>
            <a:br/>
            <a:r>
              <a:t>3. Confirm National Salvage headquarters address</a:t>
            </a:r>
            <a:br/>
            <a:r>
              <a:t>4. Confirm signed uptake MOUs</a:t>
            </a:r>
            <a:br/>
            <a:r>
              <a:t>5. Finalize community-benefit formula</a:t>
            </a:r>
            <a:br/>
            <a:r>
              <a:t>6. Complete securities-counsel review</a:t>
            </a:r>
          </a:p>
        </p:txBody>
      </p:sp>
      <p:sp>
        <p:nvSpPr>
          <p:cNvPr id="4" name="Rounded Rectangle 3"/>
          <p:cNvSpPr/>
          <p:nvPr/>
        </p:nvSpPr>
        <p:spPr>
          <a:xfrm>
            <a:off x="6217920" y="1463040"/>
            <a:ext cx="5257800" cy="3108960"/>
          </a:xfrm>
          <a:prstGeom prst="roundRect">
            <a:avLst/>
          </a:prstGeom>
          <a:solidFill>
            <a:srgbClr val="182434"/>
          </a:solidFill>
          <a:ln>
            <a:solidFill>
              <a:srgbClr val="5CC8A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600" b="1">
                <a:solidFill>
                  <a:srgbClr val="D9AF6B"/>
                </a:solidFill>
              </a:defRPr>
            </a:pPr>
            <a:r>
              <a:t>Non-negotiable guardrails</a:t>
            </a:r>
          </a:p>
          <a:p>
            <a:pPr>
              <a:defRPr sz="1100">
                <a:solidFill>
                  <a:srgbClr val="F5F7FA"/>
                </a:solidFill>
              </a:defRPr>
            </a:pPr>
            <a:r>
              <a:t>Private/confidential only</a:t>
            </a:r>
            <a:br/>
            <a:r>
              <a:t>Not an offer to sell securities</a:t>
            </a:r>
            <a:br/>
            <a:r>
              <a:t>No proprietary WasteWerx process detail</a:t>
            </a:r>
            <a:br/>
            <a:r>
              <a:t>No inflated partner or offtake claims</a:t>
            </a:r>
            <a:br/>
            <a:r>
              <a:t>Keep separate from EGLE/public grant materials</a:t>
            </a:r>
          </a:p>
        </p:txBody>
      </p:sp>
      <p:sp>
        <p:nvSpPr>
          <p:cNvPr id="5" name="TextBox 4"/>
          <p:cNvSpPr txBox="1"/>
          <p:nvPr/>
        </p:nvSpPr>
        <p:spPr>
          <a:xfrm>
            <a:off x="777240" y="4983480"/>
            <a:ext cx="10698480" cy="822960"/>
          </a:xfrm>
          <a:prstGeom prst="rect">
            <a:avLst/>
          </a:prstGeom>
          <a:noFill/>
        </p:spPr>
        <p:txBody>
          <a:bodyPr wrap="none">
            <a:spAutoFit/>
          </a:bodyPr>
          <a:lstStyle/>
          <a:p>
            <a:pPr algn="ctr">
              <a:defRPr sz="2100" b="1">
                <a:solidFill>
                  <a:srgbClr val="D9AF6B"/>
                </a:solidFill>
              </a:defRPr>
            </a:pPr>
            <a:r>
              <a:t>Carbon to Capital to Community to Continuity.</a:t>
            </a:r>
          </a:p>
          <a:p>
            <a:pPr algn="ctr">
              <a:defRPr sz="1200">
                <a:solidFill>
                  <a:srgbClr val="F5F7FA"/>
                </a:solidFill>
              </a:defRPr>
            </a:pPr>
            <a:r>
              <a:t>Confidential. For controlled investor diligence only.</a:t>
            </a:r>
          </a:p>
        </p:txBody>
      </p:sp>
      <p:sp>
        <p:nvSpPr>
          <p:cNvPr id="6" name="Rectangle 5"/>
          <p:cNvSpPr/>
          <p:nvPr/>
        </p:nvSpPr>
        <p:spPr>
          <a:xfrm>
            <a:off x="548640" y="6446520"/>
            <a:ext cx="11064240" cy="164592"/>
          </a:xfrm>
          <a:prstGeom prst="rect">
            <a:avLst/>
          </a:prstGeom>
          <a:solidFill>
            <a:srgbClr val="5C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10528"/>
            <a:ext cx="6400800" cy="182880"/>
          </a:xfrm>
          <a:prstGeom prst="rect">
            <a:avLst/>
          </a:prstGeom>
          <a:noFill/>
        </p:spPr>
        <p:txBody>
          <a:bodyPr wrap="none">
            <a:spAutoFit/>
          </a:bodyPr>
          <a:lstStyle/>
          <a:p>
            <a:pPr>
              <a:defRPr sz="800">
                <a:solidFill>
                  <a:srgbClr val="B4BECD"/>
                </a:solidFill>
              </a:defRPr>
            </a:pPr>
            <a:r>
              <a:t>Michigan LTC Network — Private &amp; Confidential — Accredited Investors Only</a:t>
            </a:r>
          </a:p>
        </p:txBody>
      </p:sp>
      <p:sp>
        <p:nvSpPr>
          <p:cNvPr id="8" name="TextBox 7"/>
          <p:cNvSpPr txBox="1"/>
          <p:nvPr/>
        </p:nvSpPr>
        <p:spPr>
          <a:xfrm>
            <a:off x="10972800" y="6473952"/>
            <a:ext cx="365760" cy="182880"/>
          </a:xfrm>
          <a:prstGeom prst="rect">
            <a:avLst/>
          </a:prstGeom>
          <a:noFill/>
        </p:spPr>
        <p:txBody>
          <a:bodyPr wrap="none">
            <a:spAutoFit/>
          </a:bodyPr>
          <a:lstStyle/>
          <a:p>
            <a:pPr algn="r">
              <a:defRPr sz="800">
                <a:solidFill>
                  <a:srgbClr val="B4BECD"/>
                </a:solidFill>
              </a:defRPr>
            </a:pPr>
            <a: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