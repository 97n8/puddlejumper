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P U B L I C L O G I C   ·   T H E   P A T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1D20"/>
                </a:solidFill>
                <a:latin typeface="Georgia"/>
              </a:rPr>
              <a:t>Help people understand the path. Help projects move through the path.</a:t>
            </a:r>
          </a:p>
          <a:p>
            <a:pPr algn="l">
              <a:lnSpc>
                <a:spcPct val="105000"/>
              </a:lnSpc>
            </a:pPr>
            <a:r>
              <a:rPr sz="1700" b="1" i="1">
                <a:solidFill>
                  <a:srgbClr val="0F4C3A"/>
                </a:solidFill>
                <a:latin typeface="Georgia"/>
              </a:rPr>
              <a:t>Leave the path easier for the next person.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874519"/>
            <a:ext cx="749807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31720" y="1874519"/>
            <a:ext cx="118872" cy="749808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874519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D20"/>
                </a:solidFill>
                <a:latin typeface="Georgia"/>
              </a:rPr>
              <a:t>LogicCommons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295143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i="0">
                <a:solidFill>
                  <a:srgbClr val="6B6660"/>
                </a:solidFill>
                <a:latin typeface="Helvetica Neue"/>
              </a:rPr>
              <a:t>Free templates, checklists,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965959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295143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1" i="0">
                <a:solidFill>
                  <a:srgbClr val="A9772F"/>
                </a:solidFill>
                <a:latin typeface="Helvetica Neue"/>
              </a:rPr>
              <a:t>Free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34455" y="2642615"/>
            <a:ext cx="292608" cy="182880"/>
          </a:xfrm>
          <a:prstGeom prst="downArrow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2839211"/>
            <a:ext cx="749807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839211"/>
            <a:ext cx="118872" cy="749808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839211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D20"/>
                </a:solidFill>
                <a:latin typeface="Georgia"/>
              </a:rPr>
              <a:t>Permit &amp;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259835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i="0">
                <a:solidFill>
                  <a:srgbClr val="6B6660"/>
                </a:solidFill>
                <a:latin typeface="Helvetica Neue"/>
              </a:rPr>
              <a:t>Find the path: permits, boards, funding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30651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1300" b="1" i="0">
                <a:solidFill>
                  <a:srgbClr val="A9772F"/>
                </a:solidFill>
                <a:latin typeface="Helvetica Neue"/>
              </a:rPr>
              <a:t>NAVIGATE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59835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1" i="0">
                <a:solidFill>
                  <a:srgbClr val="A9772F"/>
                </a:solidFill>
                <a:latin typeface="Helvetica Neue"/>
              </a:rPr>
              <a:t>$250–$750 to start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34455" y="3607307"/>
            <a:ext cx="292608" cy="182880"/>
          </a:xfrm>
          <a:prstGeom prst="downArrow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31720" y="3803904"/>
            <a:ext cx="749807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31720" y="3803904"/>
            <a:ext cx="118872" cy="749808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3803904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D20"/>
                </a:solidFill>
                <a:latin typeface="Georgia"/>
              </a:rPr>
              <a:t>Stewardship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224528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i="0">
                <a:solidFill>
                  <a:srgbClr val="6B6660"/>
                </a:solidFill>
                <a:latin typeface="Helvetica Neue"/>
              </a:rPr>
              <a:t>What needs to happen, who owns it, what breaks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895344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DIAGNOSE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224528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1" i="0">
                <a:solidFill>
                  <a:srgbClr val="A9772F"/>
                </a:solidFill>
                <a:latin typeface="Helvetica Neue"/>
              </a:rPr>
              <a:t>$2,500–$7,500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34455" y="4572000"/>
            <a:ext cx="292608" cy="182880"/>
          </a:xfrm>
          <a:prstGeom prst="downArrow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31720" y="4768596"/>
            <a:ext cx="749807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4768596"/>
            <a:ext cx="118872" cy="749808"/>
          </a:xfrm>
          <a:prstGeom prst="rect">
            <a:avLst/>
          </a:prstGeom>
          <a:solidFill>
            <a:srgbClr val="1A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4768596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D20"/>
                </a:solidFill>
                <a:latin typeface="Georgia"/>
              </a:rPr>
              <a:t>PublicLogic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18922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i="0">
                <a:solidFill>
                  <a:srgbClr val="6B6660"/>
                </a:solidFill>
                <a:latin typeface="Helvetica Neue"/>
              </a:rPr>
              <a:t>Sprints · implementation · capacity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860036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1300" b="1" i="0">
                <a:solidFill>
                  <a:srgbClr val="1A1D20"/>
                </a:solidFill>
                <a:latin typeface="Helvetica Neue"/>
              </a:rPr>
              <a:t>DELIVER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18922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1" i="0">
                <a:solidFill>
                  <a:srgbClr val="A9772F"/>
                </a:solidFill>
                <a:latin typeface="Helvetica Neue"/>
              </a:rPr>
              <a:t>engagement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31720" y="5715000"/>
            <a:ext cx="7498079" cy="658368"/>
          </a:xfrm>
          <a:prstGeom prst="round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5715000"/>
            <a:ext cx="67665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CONTINUITY &amp; STEWARDSHIP SYSTEMS   </a:t>
            </a:r>
            <a:r>
              <a:rPr sz="1200" b="1" i="0">
                <a:solidFill>
                  <a:srgbClr val="D8C89A"/>
                </a:solidFill>
                <a:latin typeface="Helvetica Neue"/>
              </a:rPr>
              <a:t>· SUSTAIN ·   </a:t>
            </a:r>
            <a:r>
              <a:rPr sz="1200" b="0" i="1">
                <a:solidFill>
                  <a:srgbClr val="D8C89A"/>
                </a:solidFill>
                <a:latin typeface="Georgia"/>
              </a:rPr>
              <a:t>the plumbing, not a product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1">
                <a:solidFill>
                  <a:srgbClr val="6B6660"/>
                </a:solidFill>
                <a:latin typeface="Helvetica Neue"/>
              </a:rPr>
              <a:t>Everything is delivered through it.  </a:t>
            </a:r>
            <a:r>
              <a:rPr sz="900" b="0" i="0">
                <a:solidFill>
                  <a:srgbClr val="6B6660"/>
                </a:solidFill>
                <a:latin typeface="Helvetica Neue"/>
              </a:rPr>
              <a:t>PublicLogic LLC · Private &amp;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