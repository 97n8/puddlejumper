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4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 i="0">
                <a:solidFill>
                  <a:srgbClr val="A9772F"/>
                </a:solidFill>
                <a:latin typeface="Helvetica Neue"/>
              </a:rPr>
              <a:t>P U B L I C L O G I C   ·   C A P A B I L I T I E S   A T   A   G L A N C 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868680"/>
            <a:ext cx="914400" cy="2794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1D20"/>
                </a:solidFill>
                <a:latin typeface="Georgia"/>
              </a:rPr>
              <a:t>Every system should make it easier for the</a:t>
            </a:r>
          </a:p>
          <a:p>
            <a:pPr algn="l">
              <a:lnSpc>
                <a:spcPct val="105000"/>
              </a:lnSpc>
            </a:pPr>
            <a:r>
              <a:rPr sz="3000" b="1" i="1">
                <a:solidFill>
                  <a:srgbClr val="0F4C3A"/>
                </a:solidFill>
                <a:latin typeface="Georgia"/>
              </a:rPr>
              <a:t>next person to do the right thing.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400" b="1" i="0">
                <a:solidFill>
                  <a:srgbClr val="A9772F"/>
                </a:solidFill>
                <a:latin typeface="Helvetica Neue"/>
              </a:rPr>
              <a:t>Implementation is the service.  Institutional Stewardship is the method.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0F4C3A"/>
                </a:solidFill>
                <a:latin typeface="Helvetica Neue"/>
              </a:rPr>
              <a:t>WHAT WE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5486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1" i="0">
                <a:solidFill>
                  <a:srgbClr val="1A1D20"/>
                </a:solidFill>
                <a:latin typeface="Helvetica Neue"/>
              </a:rPr>
              <a:t>Project Development </a:t>
            </a:r>
            <a:r>
              <a:rPr sz="1250" b="0" i="0">
                <a:solidFill>
                  <a:srgbClr val="6B6660"/>
                </a:solidFill>
                <a:latin typeface="Helvetica Neue"/>
              </a:rPr>
              <a:t>· turn ideas into actionable projects</a:t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1" i="0">
                <a:solidFill>
                  <a:srgbClr val="1A1D20"/>
                </a:solidFill>
                <a:latin typeface="Helvetica Neue"/>
              </a:rPr>
              <a:t>Funding Strategy </a:t>
            </a:r>
            <a:r>
              <a:rPr sz="1250" b="0" i="0">
                <a:solidFill>
                  <a:srgbClr val="6B6660"/>
                </a:solidFill>
                <a:latin typeface="Helvetica Neue"/>
              </a:rPr>
              <a:t>· find and win sustainable funding</a:t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1" i="0">
                <a:solidFill>
                  <a:srgbClr val="1A1D20"/>
                </a:solidFill>
                <a:latin typeface="Helvetica Neue"/>
              </a:rPr>
              <a:t>Implementation Support </a:t>
            </a:r>
            <a:r>
              <a:rPr sz="1250" b="0" i="0">
                <a:solidFill>
                  <a:srgbClr val="6B6660"/>
                </a:solidFill>
                <a:latin typeface="Helvetica Neue"/>
              </a:rPr>
              <a:t>· move plans into execution</a:t>
            </a:r>
          </a:p>
          <a:p>
            <a:pPr algn="l">
              <a:lnSpc>
                <a:spcPct val="135000"/>
              </a:lnSpc>
            </a:pPr>
            <a:r>
              <a:rPr sz="1250" b="1" i="0">
                <a:solidFill>
                  <a:srgbClr val="A9772F"/>
                </a:solidFill>
                <a:latin typeface="Helvetica Neue"/>
              </a:rPr>
              <a:t>—  </a:t>
            </a:r>
            <a:r>
              <a:rPr sz="1250" b="1" i="0">
                <a:solidFill>
                  <a:srgbClr val="1A1D20"/>
                </a:solidFill>
                <a:latin typeface="Helvetica Neue"/>
              </a:rPr>
              <a:t>Capacity Support </a:t>
            </a:r>
            <a:r>
              <a:rPr sz="1250" b="0" i="0">
                <a:solidFill>
                  <a:srgbClr val="6B6660"/>
                </a:solidFill>
                <a:latin typeface="Helvetica Neue"/>
              </a:rPr>
              <a:t>· step in and hold the role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3200400"/>
            <a:ext cx="5029200" cy="2331720"/>
          </a:xfrm>
          <a:prstGeom prst="rect">
            <a:avLst/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3200400"/>
            <a:ext cx="91440" cy="2331720"/>
          </a:xfrm>
          <a:prstGeom prst="rect">
            <a:avLst/>
          </a:prstGeom>
          <a:solidFill>
            <a:srgbClr val="A977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0" y="338328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 i="0">
                <a:solidFill>
                  <a:srgbClr val="0F4C3A"/>
                </a:solidFill>
                <a:latin typeface="Helvetica Neue"/>
              </a:rPr>
              <a:t>WHY IT'S DIFFERENT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3749039"/>
            <a:ext cx="4572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 i="1">
                <a:solidFill>
                  <a:srgbClr val="1A1D20"/>
                </a:solidFill>
                <a:latin typeface="Georgia"/>
              </a:rPr>
              <a:t>Most systems manage work. PublicLogic helps steward what has to survive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480060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0F4C3A"/>
                </a:solidFill>
                <a:latin typeface="Helvetica Neue"/>
              </a:rPr>
              <a:t>We prove it:  </a:t>
            </a:r>
            <a:r>
              <a:rPr sz="1150" b="0" i="0">
                <a:solidFill>
                  <a:srgbClr val="1A1D20"/>
                </a:solidFill>
                <a:latin typeface="Helvetica Neue"/>
              </a:rPr>
              <a:t>continuity · record · readiness · adoption · outcome.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715000"/>
            <a:ext cx="10881360" cy="566928"/>
          </a:xfrm>
          <a:prstGeom prst="rect">
            <a:avLst/>
          </a:prstGeom>
          <a:solidFill>
            <a:srgbClr val="0F4C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715000"/>
            <a:ext cx="104241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1" i="0">
                <a:solidFill>
                  <a:srgbClr val="A9772F"/>
                </a:solidFill>
                <a:latin typeface="Helvetica Neue"/>
              </a:rPr>
              <a:t>HOW TO START   </a:t>
            </a:r>
            <a:r>
              <a:rPr sz="1250" b="1" i="0">
                <a:solidFill>
                  <a:srgbClr val="F5F4F0"/>
                </a:solidFill>
                <a:latin typeface="Helvetica Neue"/>
              </a:rPr>
              <a:t>Signal → Fit → Map → Build → Sustain → Prove.   Begin with a paid Map.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 i="0">
                <a:solidFill>
                  <a:srgbClr val="6B6660"/>
                </a:solidFill>
                <a:latin typeface="Helvetica Neue"/>
              </a:rPr>
              <a:t>PublicLogic LLC  ·  nate@publiclogic.org  ·  978-807-0829  ·  Private &amp;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