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MICHIGAN LTC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ECE7DE"/>
                </a:solidFill>
                <a:latin typeface="Georgia"/>
              </a:rPr>
              <a:t>An everlasting</a:t>
            </a:r>
          </a:p>
          <a:p>
            <a:pPr algn="l">
              <a:lnSpc>
                <a:spcPct val="106000"/>
              </a:lnSpc>
            </a:pPr>
            <a:r>
              <a:rPr sz="4600" b="0" i="1">
                <a:solidFill>
                  <a:srgbClr val="ECE7DE"/>
                </a:solidFill>
                <a:latin typeface="Georgia"/>
              </a:rPr>
              <a:t>cycle of good.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B08948"/>
                </a:solidFill>
                <a:latin typeface="Arial"/>
              </a:rPr>
              <a:t>Resource Recovery Corridor  ·  Coleman – Flint  ·  Private &amp;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1764792" cy="685800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0" y="2926080"/>
            <a:ext cx="17647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0" i="1">
                <a:solidFill>
                  <a:srgbClr val="B08948"/>
                </a:solidFill>
                <a:latin typeface="Georgia"/>
              </a:rPr>
              <a:t>the 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0" y="0"/>
            <a:ext cx="46936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B08948"/>
                </a:solidFill>
                <a:latin typeface="Georgia"/>
              </a:rPr>
              <a:t>[ photograph — before / after — a tired industrial yard, then the same yard alive ]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THE BELIEF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7202B"/>
                </a:solidFill>
                <a:latin typeface="Georgia"/>
              </a:rPr>
              <a:t>Where others see waste,</a:t>
            </a:r>
          </a:p>
          <a:p>
            <a:pPr algn="l">
              <a:lnSpc>
                <a:spcPct val="108000"/>
              </a:lnSpc>
            </a:pPr>
            <a:r>
              <a:rPr sz="3300" b="0" i="1">
                <a:solidFill>
                  <a:srgbClr val="B08948"/>
                </a:solidFill>
                <a:latin typeface="Georgia"/>
              </a:rPr>
              <a:t>we see what comes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7A7166"/>
                </a:solidFill>
                <a:latin typeface="Arial"/>
              </a:rPr>
              <a:t>End-of-life tires, railroad ties, and biomass become fuel, recovered material, and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We don't arrive.</a:t>
            </a:r>
          </a:p>
          <a:p>
            <a:pPr algn="l">
              <a:lnSpc>
                <a:spcPct val="108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We co-locate.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7A7166"/>
                </a:solidFill>
                <a:latin typeface="Arial"/>
              </a:rPr>
              <a:t>Geocycle (Coleman) · Environmental Rubber Recycling (Flint) · National Energy of Lincoln — existing hosts, new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86868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THE CORRIDOR, IN REAL 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0" i="0">
                <a:solidFill>
                  <a:srgbClr val="17202B"/>
                </a:solidFill>
                <a:latin typeface="Georgia"/>
              </a:rPr>
              <a:t>Real towns. Real hosts. Real jobs.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92424" cy="329184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843784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B08948"/>
                </a:solidFill>
                <a:latin typeface="Georgia"/>
              </a:rPr>
              <a:t>[ photograph — an 18 MW biomass plant, steam and steel, rural Michigan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3392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 i="0">
                <a:solidFill>
                  <a:srgbClr val="17202B"/>
                </a:solidFill>
                <a:latin typeface="Arial"/>
              </a:rPr>
              <a:t>Lincoln · Alcona County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9704" y="2194560"/>
            <a:ext cx="3392424" cy="3291840"/>
          </a:xfrm>
          <a:prstGeom prst="rect">
            <a:avLst/>
          </a:prstGeom>
          <a:solidFill>
            <a:srgbClr val="E7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2194560"/>
            <a:ext cx="2843784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7A7166"/>
                </a:solidFill>
                <a:latin typeface="Georgia"/>
              </a:rPr>
              <a:t>[ photograph — Dort Highway — a working tire yard in an EJ community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5623560"/>
            <a:ext cx="3392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 i="0">
                <a:solidFill>
                  <a:srgbClr val="17202B"/>
                </a:solidFill>
                <a:latin typeface="Arial"/>
              </a:rPr>
              <a:t>Flint · Genesee County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2194560"/>
            <a:ext cx="3392424" cy="3291840"/>
          </a:xfrm>
          <a:prstGeom prst="rect">
            <a:avLst/>
          </a:prstGeom>
          <a:solidFill>
            <a:srgbClr val="23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194560"/>
            <a:ext cx="2843784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B08948"/>
                </a:solidFill>
                <a:latin typeface="Georgia"/>
              </a:rPr>
              <a:t>[ photograph — Geocycle's recycling line, conveyors and bales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5623560"/>
            <a:ext cx="3392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300" b="1" i="0">
                <a:solidFill>
                  <a:srgbClr val="17202B"/>
                </a:solidFill>
                <a:latin typeface="Arial"/>
              </a:rPr>
              <a:t>Coleman · Midland County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Waste becomes fuel.</a:t>
            </a:r>
          </a:p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Fuel becomes revenue.</a:t>
            </a:r>
          </a:p>
          <a:p>
            <a:pPr algn="l">
              <a:lnSpc>
                <a:spcPct val="108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Revenue becomes community.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7A7166"/>
                </a:solidFill>
                <a:latin typeface="Arial"/>
              </a:rPr>
              <a:t>The economic generator and the community investment are the same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42255" cy="6858000"/>
          </a:xfrm>
          <a:prstGeom prst="rect">
            <a:avLst/>
          </a:prstGeom>
          <a:solidFill>
            <a:srgbClr val="E7E1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0"/>
            <a:ext cx="4693615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1250" b="0" i="1">
                <a:solidFill>
                  <a:srgbClr val="7A7166"/>
                </a:solidFill>
                <a:latin typeface="Georgia"/>
              </a:rPr>
              <a:t>[ photograph — a commercial kitchen incubator, hands and steam, people learning ]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COMMUNITY, STRUCTURALLY EMBEDDED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2880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0" i="0">
                <a:solidFill>
                  <a:srgbClr val="17202B"/>
                </a:solidFill>
                <a:latin typeface="Georgia"/>
              </a:rPr>
              <a:t>Ten percent, returned —</a:t>
            </a:r>
          </a:p>
          <a:p>
            <a:pPr algn="l">
              <a:lnSpc>
                <a:spcPct val="108000"/>
              </a:lnSpc>
            </a:pPr>
            <a:r>
              <a:rPr sz="3300" b="0" i="1">
                <a:solidFill>
                  <a:srgbClr val="B08948"/>
                </a:solidFill>
                <a:latin typeface="Georgia"/>
              </a:rPr>
              <a:t>by design, not as charity.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4937760"/>
            <a:ext cx="5669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7A7166"/>
                </a:solidFill>
                <a:latin typeface="Arial"/>
              </a:rPr>
              <a:t>The Warehouse / Gen 215 · ACS Cooperative — workforce, food security, participation.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82296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What it leaves behind:</a:t>
            </a:r>
          </a:p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17202B"/>
                </a:solidFill>
                <a:latin typeface="Georgia"/>
              </a:rPr>
              <a:t>jobs kept, capacity built,</a:t>
            </a:r>
          </a:p>
          <a:p>
            <a:pPr algn="l">
              <a:lnSpc>
                <a:spcPct val="108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a record that endures.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300" b="0" i="0">
                <a:solidFill>
                  <a:srgbClr val="7A7166"/>
                </a:solidFill>
                <a:latin typeface="Arial"/>
              </a:rPr>
              <a:t>Built to survive turnover, partner changes, and the next twenty-five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4000"/>
              </a:lnSpc>
            </a:pPr>
            <a:r>
              <a:rPr sz="900" b="0" i="0">
                <a:solidFill>
                  <a:srgbClr val="7A7166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0" i="0">
                <a:solidFill>
                  <a:srgbClr val="ECE7DE"/>
                </a:solidFill>
                <a:latin typeface="Georgia"/>
              </a:rPr>
              <a:t>Legacy is what the next</a:t>
            </a:r>
          </a:p>
          <a:p>
            <a:pPr algn="l">
              <a:lnSpc>
                <a:spcPct val="106000"/>
              </a:lnSpc>
            </a:pPr>
            <a:r>
              <a:rPr sz="4000" b="0" i="1">
                <a:solidFill>
                  <a:srgbClr val="B08948"/>
                </a:solidFill>
                <a:latin typeface="Georgia"/>
              </a:rPr>
              <a:t>generation can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00" b="0" i="0">
                <a:solidFill>
                  <a:srgbClr val="9A9083"/>
                </a:solidFill>
                <a:latin typeface="Arial"/>
              </a:rPr>
              <a:t>Michigan LTC Network  ·  Resource Recovery Corridor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005840" cy="25400"/>
          </a:xfrm>
          <a:prstGeom prst="rect">
            <a:avLst/>
          </a:prstGeom>
          <a:solidFill>
            <a:srgbClr val="B08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50" b="1" i="0">
                <a:solidFill>
                  <a:srgbClr val="B08948"/>
                </a:solidFill>
                <a:latin typeface="Arial"/>
              </a:rPr>
              <a:t>MICHIGAN LTC —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ECE7DE"/>
                </a:solidFill>
                <a:latin typeface="Georgia"/>
              </a:rPr>
              <a:t>Michigan LTC Network</a:t>
            </a:r>
          </a:p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B08948"/>
                </a:solidFill>
                <a:latin typeface="Georgia"/>
              </a:rPr>
              <a:t>Resource Recovery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CE7DE"/>
                </a:solidFill>
                <a:latin typeface="Arial"/>
              </a:rPr>
              <a:t>Energy Mann &amp; Sunn, Inc.  ·  Robert C. McCall Jr., Project Executive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ECE7DE"/>
                </a:solidFill>
                <a:latin typeface="Arial"/>
              </a:rPr>
              <a:t>Governance &amp; Compliance — PublicLogic LLC  ·  Nathan Boudreau, MPA, MCPPO  ·  Dr. Allison Weiss Rothschild</a:t>
            </a:r>
          </a:p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B08948"/>
                </a:solidFill>
                <a:latin typeface="Arial"/>
              </a:rPr>
              <a:t>nate@publiclogic.org  ·  978-807-0829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850" b="1" i="0">
                <a:solidFill>
                  <a:srgbClr val="9A9083"/>
                </a:solidFill>
                <a:latin typeface="Arial"/>
              </a:rPr>
              <a:t>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