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IN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ECE7DE"/>
                </a:solidFill>
                <a:latin typeface="Georgia"/>
              </a:rPr>
              <a:t>The economics,</a:t>
            </a:r>
          </a:p>
          <a:p>
            <a:pPr algn="l">
              <a:lnSpc>
                <a:spcPct val="106000"/>
              </a:lnSpc>
            </a:pPr>
            <a:r>
              <a:rPr sz="4600" b="0" i="1">
                <a:solidFill>
                  <a:srgbClr val="ECE7DE"/>
                </a:solidFill>
                <a:latin typeface="Georgia"/>
              </a:rPr>
              <a:t>withheld until earned.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B08948"/>
                </a:solidFill>
                <a:latin typeface="Arial"/>
              </a:rPr>
              <a:t>For accredited discussion only  ·  Private &amp;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1764792" cy="6858000"/>
          </a:xfrm>
          <a:prstGeom prst="rect">
            <a:avLst/>
          </a:prstGeom>
          <a:solidFill>
            <a:srgbClr val="23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0" y="2926080"/>
            <a:ext cx="17647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0" i="1">
                <a:solidFill>
                  <a:srgbClr val="B08948"/>
                </a:solidFill>
                <a:latin typeface="Georgia"/>
              </a:rPr>
              <a:t>the record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601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17202B"/>
                </a:solidFill>
                <a:latin typeface="Georgia"/>
              </a:rPr>
              <a:t>Capital is the seed.</a:t>
            </a:r>
          </a:p>
          <a:p>
            <a:pPr algn="l">
              <a:lnSpc>
                <a:spcPct val="108000"/>
              </a:lnSpc>
            </a:pPr>
            <a:r>
              <a:rPr sz="4000" b="0" i="1">
                <a:solidFill>
                  <a:srgbClr val="B08948"/>
                </a:solidFill>
                <a:latin typeface="Georgia"/>
              </a:rPr>
              <a:t>Stewardship is the water.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7A7166"/>
                </a:solidFill>
                <a:latin typeface="Arial"/>
              </a:rPr>
              <a:t>Returns come from a system that holds together for twenty-five years — not from a single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PER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0" i="0">
                <a:solidFill>
                  <a:srgbClr val="ECE7DE"/>
                </a:solidFill>
                <a:latin typeface="Georgia"/>
              </a:rPr>
              <a:t>$15M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B08948"/>
                </a:solidFill>
                <a:latin typeface="Arial"/>
              </a:rPr>
              <a:t>per site  ·  three sites in the corridor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1">
                <a:solidFill>
                  <a:srgbClr val="ECE7DE"/>
                </a:solidFill>
                <a:latin typeface="Georgia"/>
              </a:rPr>
              <a:t>The rest is in the diligence 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1" i="0">
                <a:solidFill>
                  <a:srgbClr val="9A9083"/>
                </a:solidFill>
                <a:latin typeface="Arial"/>
              </a:rPr>
              <a:t>PRIVATE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ECE7DE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601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17202B"/>
                </a:solidFill>
                <a:latin typeface="Georgia"/>
              </a:rPr>
              <a:t>What we share,</a:t>
            </a:r>
          </a:p>
          <a:p>
            <a:pPr algn="l">
              <a:lnSpc>
                <a:spcPct val="108000"/>
              </a:lnSpc>
            </a:pPr>
            <a:r>
              <a:rPr sz="4000" b="0" i="1">
                <a:solidFill>
                  <a:srgbClr val="B08948"/>
                </a:solidFill>
                <a:latin typeface="Georgia"/>
              </a:rPr>
              <a:t>and when.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7A7166"/>
                </a:solidFill>
                <a:latin typeface="Arial"/>
              </a:rPr>
              <a:t>Base case openly · contingent upside clearly labeled · the full model on request, under NDA, with counsel.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PER-SITE ECONOMICS — DILIGENCE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800" b="0" i="0">
                <a:solidFill>
                  <a:srgbClr val="17202B"/>
                </a:solidFill>
                <a:latin typeface="Georgia"/>
              </a:rPr>
              <a:t>One site, on the executed Pro Forma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11680"/>
          <a:ext cx="4180642743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090318400000"/>
                <a:gridCol w="20903184000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CE7DE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ECE7DE"/>
                          </a:solidFill>
                          <a:latin typeface="Arial"/>
                        </a:rPr>
                        <a:t>As signed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ECE7DE"/>
                          </a:solidFill>
                          <a:latin typeface="Arial"/>
                        </a:rPr>
                        <a:t>Operator-reality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Year 1 cash out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$7,622,828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$7,622,828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Steady-state revenue</a:t>
                      </a:r>
                    </a:p>
                  </a:txBody>
                  <a:tcPr>
                    <a:solidFill>
                      <a:srgbClr val="E7E1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$35,581,680</a:t>
                      </a:r>
                    </a:p>
                  </a:txBody>
                  <a:tcPr>
                    <a:solidFill>
                      <a:srgbClr val="E7E1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$35,581,680</a:t>
                      </a:r>
                    </a:p>
                  </a:txBody>
                  <a:tcPr>
                    <a:solidFill>
                      <a:srgbClr val="E7E1D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Steady-state EBITDA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$30,200,531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~$22,047,043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of which RIN + §45Z (contingent)</a:t>
                      </a:r>
                    </a:p>
                  </a:txBody>
                  <a:tcPr>
                    <a:solidFill>
                      <a:srgbClr val="E7E1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$20,428,560</a:t>
                      </a:r>
                    </a:p>
                  </a:txBody>
                  <a:tcPr>
                    <a:solidFill>
                      <a:srgbClr val="E7E1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$20,428,560</a:t>
                      </a:r>
                    </a:p>
                  </a:txBody>
                  <a:tcPr>
                    <a:solidFill>
                      <a:srgbClr val="E7E1D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Base fuel only (no credits)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$9,771,971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17202B"/>
                          </a:solidFill>
                          <a:latin typeface="Arial"/>
                        </a:rPr>
                        <a:t>~$1,618,483</a:t>
                      </a:r>
                    </a:p>
                  </a:txBody>
                  <a:tcPr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7A7166"/>
                </a:solidFill>
                <a:latin typeface="Arial"/>
              </a:rPr>
              <a:t>Keyed to Canonical v2.0. 'As signed' assumes Pro Forma staffing; operator-reality reflects full staffing + feedstock. $20.4M of revenue is contingent on RFS/§45Z registration. Carbon black is $0 in the base. Not an offer of securities.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601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17202B"/>
                </a:solidFill>
                <a:latin typeface="Georgia"/>
              </a:rPr>
              <a:t>The corridor, in three.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7A7166"/>
                </a:solidFill>
                <a:latin typeface="Arial"/>
              </a:rPr>
              <a:t>$45M across three sites · a separate $2.5M at the company · $47.5M total — presented as distinct 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42255" cy="6858000"/>
          </a:xfrm>
          <a:prstGeom prst="rect">
            <a:avLst/>
          </a:prstGeom>
          <a:solidFill>
            <a:srgbClr val="23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46936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 i="1">
                <a:solidFill>
                  <a:srgbClr val="B08948"/>
                </a:solidFill>
                <a:latin typeface="Georgia"/>
              </a:rPr>
              <a:t>[ photograph — a closed folder on a desk, a single lamp, nothing on screen ]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WHAT STAYS PRIVATE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828800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7202B"/>
                </a:solidFill>
                <a:latin typeface="Georgia"/>
              </a:rPr>
              <a:t>The full model travels</a:t>
            </a:r>
          </a:p>
          <a:p>
            <a:pPr algn="l">
              <a:lnSpc>
                <a:spcPct val="108000"/>
              </a:lnSpc>
            </a:pPr>
            <a:r>
              <a:rPr sz="3300" b="0" i="1">
                <a:solidFill>
                  <a:srgbClr val="B08948"/>
                </a:solidFill>
                <a:latin typeface="Georgia"/>
              </a:rPr>
              <a:t>only as far as trust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493776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7A7166"/>
                </a:solidFill>
                <a:latin typeface="Arial"/>
              </a:rPr>
              <a:t>Per-site and network detail, sensitivity, and structure — shared in the room, not on the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0584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0" i="0">
                <a:solidFill>
                  <a:srgbClr val="ECE7DE"/>
                </a:solidFill>
                <a:latin typeface="Georgia"/>
              </a:rPr>
              <a:t>Numbers earn their</a:t>
            </a:r>
          </a:p>
          <a:p>
            <a:pPr algn="l">
              <a:lnSpc>
                <a:spcPct val="106000"/>
              </a:lnSpc>
            </a:pPr>
            <a:r>
              <a:rPr sz="4000" b="0" i="1">
                <a:solidFill>
                  <a:srgbClr val="B08948"/>
                </a:solidFill>
                <a:latin typeface="Georgia"/>
              </a:rPr>
              <a:t>audience.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9A9083"/>
                </a:solidFill>
                <a:latin typeface="Arial"/>
              </a:rPr>
              <a:t>Private &amp; Confidential · Not an offer to sell securities · Subject to definitive docs + securities counsel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00584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MICHIGAN LTC — IN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ECE7DE"/>
                </a:solidFill>
                <a:latin typeface="Georgia"/>
              </a:rPr>
              <a:t>Michigan LTC Network</a:t>
            </a:r>
          </a:p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B08948"/>
                </a:solidFill>
                <a:latin typeface="Georgia"/>
              </a:rPr>
              <a:t>Resource Recovery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CE7DE"/>
                </a:solidFill>
                <a:latin typeface="Arial"/>
              </a:rPr>
              <a:t>Energy Mann &amp; Sunn, Inc.  ·  Robert C. McCall Jr., Project Executive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CE7DE"/>
                </a:solidFill>
                <a:latin typeface="Arial"/>
              </a:rPr>
              <a:t>Governance &amp; Compliance — PublicLogic LLC  ·  Nathan Boudreau, MPA, MCPPO  ·  Dr. Allison Weiss Rothschild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B08948"/>
                </a:solidFill>
                <a:latin typeface="Arial"/>
              </a:rPr>
              <a:t>nate@publiclogic.org  ·  978-807-0829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1" i="0">
                <a:solidFill>
                  <a:srgbClr val="9A9083"/>
                </a:solidFill>
                <a:latin typeface="Arial"/>
              </a:rPr>
              <a:t>PRIVATE &amp;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