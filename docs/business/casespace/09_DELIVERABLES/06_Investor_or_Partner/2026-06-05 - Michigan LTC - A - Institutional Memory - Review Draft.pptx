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371600"/>
            <a:ext cx="1005840" cy="25400"/>
          </a:xfrm>
          <a:prstGeom prst="rect">
            <a:avLst/>
          </a:prstGeom>
          <a:solidFill>
            <a:srgbClr val="B08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50" b="1" i="0">
                <a:solidFill>
                  <a:srgbClr val="B08948"/>
                </a:solidFill>
                <a:latin typeface="Arial"/>
              </a:rPr>
              <a:t>PUBLICLOGIC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156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600" b="0" i="0">
                <a:solidFill>
                  <a:srgbClr val="ECE7DE"/>
                </a:solidFill>
                <a:latin typeface="Georgia"/>
              </a:rPr>
              <a:t>The corridor remembers.</a:t>
            </a:r>
          </a:p>
          <a:p>
            <a:pPr algn="l">
              <a:lnSpc>
                <a:spcPct val="106000"/>
              </a:lnSpc>
            </a:pPr>
            <a:r>
              <a:rPr sz="4600" b="0" i="1">
                <a:solidFill>
                  <a:srgbClr val="ECE7DE"/>
                </a:solidFill>
                <a:latin typeface="Georgia"/>
              </a:rPr>
              <a:t>So nothing has to be relearned.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760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B08948"/>
                </a:solidFill>
                <a:latin typeface="Arial"/>
              </a:rPr>
              <a:t>Institutional memory as infrastructure  ·  Private &amp;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24160" y="0"/>
            <a:ext cx="1764792" cy="6858000"/>
          </a:xfrm>
          <a:prstGeom prst="rect">
            <a:avLst/>
          </a:prstGeom>
          <a:solidFill>
            <a:srgbClr val="23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60" y="2926080"/>
            <a:ext cx="17647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300" b="0" i="1">
                <a:solidFill>
                  <a:srgbClr val="B08948"/>
                </a:solidFill>
                <a:latin typeface="Georgia"/>
              </a:rPr>
              <a:t>the record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49440" y="0"/>
            <a:ext cx="5242255" cy="6858000"/>
          </a:xfrm>
          <a:prstGeom prst="rect">
            <a:avLst/>
          </a:prstGeom>
          <a:solidFill>
            <a:srgbClr val="23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0" y="0"/>
            <a:ext cx="4693615" cy="685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250" b="0" i="1">
                <a:solidFill>
                  <a:srgbClr val="B08948"/>
                </a:solidFill>
                <a:latin typeface="Georgia"/>
              </a:rPr>
              <a:t>[ photograph — a real record — a logbook, a permit wall, a hand resting on a ledger ]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80160"/>
            <a:ext cx="822960" cy="25400"/>
          </a:xfrm>
          <a:prstGeom prst="rect">
            <a:avLst/>
          </a:prstGeom>
          <a:solidFill>
            <a:srgbClr val="B08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50" b="1" i="0">
                <a:solidFill>
                  <a:srgbClr val="B08948"/>
                </a:solidFill>
                <a:latin typeface="Arial"/>
              </a:rPr>
              <a:t>THE THESIS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56692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300" b="0" i="0">
                <a:solidFill>
                  <a:srgbClr val="17202B"/>
                </a:solidFill>
                <a:latin typeface="Georgia"/>
              </a:rPr>
              <a:t>Most projects forget.</a:t>
            </a:r>
          </a:p>
          <a:p>
            <a:pPr algn="l">
              <a:lnSpc>
                <a:spcPct val="108000"/>
              </a:lnSpc>
            </a:pPr>
            <a:r>
              <a:rPr sz="3300" b="0" i="1">
                <a:solidFill>
                  <a:srgbClr val="B08948"/>
                </a:solidFill>
                <a:latin typeface="Georgia"/>
              </a:rPr>
              <a:t>This one remembers.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937760"/>
            <a:ext cx="5669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7A7166"/>
                </a:solidFill>
                <a:latin typeface="Arial"/>
              </a:rPr>
              <a:t>Knowledge usually lives in people. When they leave, it leaves with them.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4000"/>
              </a:lnSpc>
            </a:pPr>
            <a:r>
              <a:rPr sz="900" b="0" i="0">
                <a:solidFill>
                  <a:srgbClr val="7A7166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242255" cy="6858000"/>
          </a:xfrm>
          <a:prstGeom prst="rect">
            <a:avLst/>
          </a:prstGeom>
          <a:solidFill>
            <a:srgbClr val="E7E1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0"/>
            <a:ext cx="4693615" cy="685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250" b="0" i="1">
                <a:solidFill>
                  <a:srgbClr val="7A7166"/>
                </a:solidFill>
                <a:latin typeface="Georgia"/>
              </a:rPr>
              <a:t>[ photograph — close-up of an open field binder, tabs and tabs ]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0" y="1280160"/>
            <a:ext cx="822960" cy="25400"/>
          </a:xfrm>
          <a:prstGeom prst="rect">
            <a:avLst/>
          </a:prstGeom>
          <a:solidFill>
            <a:srgbClr val="B08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50" b="1" i="0">
                <a:solidFill>
                  <a:srgbClr val="B08948"/>
                </a:solidFill>
                <a:latin typeface="Arial"/>
              </a:rPr>
              <a:t>MEMORY, MADE PORTABLE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1828800"/>
            <a:ext cx="56692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300" b="0" i="0">
                <a:solidFill>
                  <a:srgbClr val="17202B"/>
                </a:solidFill>
                <a:latin typeface="Georgia"/>
              </a:rPr>
              <a:t>Every permit. Every reading.</a:t>
            </a:r>
          </a:p>
          <a:p>
            <a:pPr algn="l">
              <a:lnSpc>
                <a:spcPct val="108000"/>
              </a:lnSpc>
            </a:pPr>
            <a:r>
              <a:rPr sz="3300" b="0" i="0">
                <a:solidFill>
                  <a:srgbClr val="17202B"/>
                </a:solidFill>
                <a:latin typeface="Georgia"/>
              </a:rPr>
              <a:t>Every relationship. Every lesson.</a:t>
            </a:r>
          </a:p>
          <a:p>
            <a:pPr algn="l">
              <a:lnSpc>
                <a:spcPct val="108000"/>
              </a:lnSpc>
            </a:pPr>
            <a:r>
              <a:rPr sz="3300" b="0" i="1">
                <a:solidFill>
                  <a:srgbClr val="B08948"/>
                </a:solidFill>
                <a:latin typeface="Georgia"/>
              </a:rPr>
              <a:t>Retained.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4937760"/>
            <a:ext cx="5669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7A7166"/>
                </a:solidFill>
                <a:latin typeface="Arial"/>
              </a:rPr>
              <a:t>The corridor keeps its own record — and carries it forward.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4000"/>
              </a:lnSpc>
            </a:pPr>
            <a:r>
              <a:rPr sz="900" b="0" i="0">
                <a:solidFill>
                  <a:srgbClr val="7A7166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280160"/>
            <a:ext cx="822960" cy="25400"/>
          </a:xfrm>
          <a:prstGeom prst="rect">
            <a:avLst/>
          </a:prstGeom>
          <a:solidFill>
            <a:srgbClr val="B08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96012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0" i="0">
                <a:solidFill>
                  <a:srgbClr val="17202B"/>
                </a:solidFill>
                <a:latin typeface="Georgia"/>
              </a:rPr>
              <a:t>Each site starts where</a:t>
            </a:r>
          </a:p>
          <a:p>
            <a:pPr algn="l">
              <a:lnSpc>
                <a:spcPct val="108000"/>
              </a:lnSpc>
            </a:pPr>
            <a:r>
              <a:rPr sz="4000" b="0" i="1">
                <a:solidFill>
                  <a:srgbClr val="B08948"/>
                </a:solidFill>
                <a:latin typeface="Georgia"/>
              </a:rPr>
              <a:t>the last one finished.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206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300" b="0" i="0">
                <a:solidFill>
                  <a:srgbClr val="7A7166"/>
                </a:solidFill>
                <a:latin typeface="Arial"/>
              </a:rPr>
              <a:t>Continuity is the compounding engine: the second site is cheaper, faster, and more certain than the first.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4000"/>
              </a:lnSpc>
            </a:pPr>
            <a:r>
              <a:rPr sz="900" b="0" i="0">
                <a:solidFill>
                  <a:srgbClr val="7A7166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49440" y="0"/>
            <a:ext cx="5242255" cy="6858000"/>
          </a:xfrm>
          <a:prstGeom prst="rect">
            <a:avLst/>
          </a:prstGeom>
          <a:solidFill>
            <a:srgbClr val="23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0" y="0"/>
            <a:ext cx="4693615" cy="685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250" b="0" i="1">
                <a:solidFill>
                  <a:srgbClr val="B08948"/>
                </a:solidFill>
                <a:latin typeface="Georgia"/>
              </a:rPr>
              <a:t>[ photograph — a single screen in a dim control room, a calm interface ]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80160"/>
            <a:ext cx="822960" cy="25400"/>
          </a:xfrm>
          <a:prstGeom prst="rect">
            <a:avLst/>
          </a:prstGeom>
          <a:solidFill>
            <a:srgbClr val="B08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50" b="1" i="0">
                <a:solidFill>
                  <a:srgbClr val="B08948"/>
                </a:solidFill>
                <a:latin typeface="Arial"/>
              </a:rPr>
              <a:t>THE EVIDENCE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56692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300" b="0" i="0">
                <a:solidFill>
                  <a:srgbClr val="17202B"/>
                </a:solidFill>
                <a:latin typeface="Georgia"/>
              </a:rPr>
              <a:t>PuddleJumper is the quiet</a:t>
            </a:r>
          </a:p>
          <a:p>
            <a:pPr algn="l">
              <a:lnSpc>
                <a:spcPct val="108000"/>
              </a:lnSpc>
            </a:pPr>
            <a:r>
              <a:rPr sz="3300" b="0" i="0">
                <a:solidFill>
                  <a:srgbClr val="17202B"/>
                </a:solidFill>
                <a:latin typeface="Georgia"/>
              </a:rPr>
              <a:t>memory underneath the 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937760"/>
            <a:ext cx="5669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7A7166"/>
                </a:solidFill>
                <a:latin typeface="Arial"/>
              </a:rPr>
              <a:t>Every submission, approval, and deadline — logged, sealed, auditable.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4000"/>
              </a:lnSpc>
            </a:pPr>
            <a:r>
              <a:rPr sz="900" b="0" i="0">
                <a:solidFill>
                  <a:srgbClr val="7A7166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280160"/>
            <a:ext cx="822960" cy="25400"/>
          </a:xfrm>
          <a:prstGeom prst="rect">
            <a:avLst/>
          </a:prstGeom>
          <a:solidFill>
            <a:srgbClr val="B08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96012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0" i="0">
                <a:solidFill>
                  <a:srgbClr val="17202B"/>
                </a:solidFill>
                <a:latin typeface="Georgia"/>
              </a:rPr>
              <a:t>Proof, not promises.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206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300" b="0" i="0">
                <a:solidFill>
                  <a:srgbClr val="7A7166"/>
                </a:solidFill>
                <a:latin typeface="Arial"/>
              </a:rPr>
              <a:t>Documentation-first. Verification-ready. The record is the product.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4000"/>
              </a:lnSpc>
            </a:pPr>
            <a:r>
              <a:rPr sz="900" b="0" i="0">
                <a:solidFill>
                  <a:srgbClr val="7A7166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468880"/>
            <a:ext cx="1005840" cy="25400"/>
          </a:xfrm>
          <a:prstGeom prst="rect">
            <a:avLst/>
          </a:prstGeom>
          <a:solidFill>
            <a:srgbClr val="B08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058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000" b="0" i="0">
                <a:solidFill>
                  <a:srgbClr val="ECE7DE"/>
                </a:solidFill>
                <a:latin typeface="Georgia"/>
              </a:rPr>
              <a:t>Institutional memory is the</a:t>
            </a:r>
          </a:p>
          <a:p>
            <a:pPr algn="l">
              <a:lnSpc>
                <a:spcPct val="106000"/>
              </a:lnSpc>
            </a:pPr>
            <a:r>
              <a:rPr sz="4000" b="0" i="1">
                <a:solidFill>
                  <a:srgbClr val="B08948"/>
                </a:solidFill>
                <a:latin typeface="Georgia"/>
              </a:rPr>
              <a:t>quietest moat there 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206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0" i="0">
                <a:solidFill>
                  <a:srgbClr val="9A9083"/>
                </a:solidFill>
                <a:latin typeface="Arial"/>
              </a:rPr>
              <a:t>PublicLogic LLC  ·  Governance · Compliance · Continuity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097280"/>
            <a:ext cx="1005840" cy="25400"/>
          </a:xfrm>
          <a:prstGeom prst="rect">
            <a:avLst/>
          </a:prstGeom>
          <a:solidFill>
            <a:srgbClr val="B08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50" b="1" i="0">
                <a:solidFill>
                  <a:srgbClr val="B08948"/>
                </a:solidFill>
                <a:latin typeface="Arial"/>
              </a:rPr>
              <a:t>PUBLICLOGIC — GOVERNANCE &amp; CONTINUITY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058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0" i="0">
                <a:solidFill>
                  <a:srgbClr val="ECE7DE"/>
                </a:solidFill>
                <a:latin typeface="Georgia"/>
              </a:rPr>
              <a:t>Michigan LTC Network</a:t>
            </a:r>
          </a:p>
          <a:p>
            <a:pPr algn="l">
              <a:lnSpc>
                <a:spcPct val="110000"/>
              </a:lnSpc>
            </a:pPr>
            <a:r>
              <a:rPr sz="2000" b="0" i="1">
                <a:solidFill>
                  <a:srgbClr val="B08948"/>
                </a:solidFill>
                <a:latin typeface="Georgia"/>
              </a:rPr>
              <a:t>Resource Recovery Corridor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10058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 i="0">
                <a:solidFill>
                  <a:srgbClr val="ECE7DE"/>
                </a:solidFill>
                <a:latin typeface="Arial"/>
              </a:rPr>
              <a:t>Energy Mann &amp; Sunn, Inc.  ·  Robert C. McCall Jr., Project Executive</a:t>
            </a:r>
          </a:p>
          <a:p>
            <a:pPr algn="l">
              <a:lnSpc>
                <a:spcPct val="150000"/>
              </a:lnSpc>
            </a:pPr>
            <a:r>
              <a:rPr sz="1250" b="0" i="0">
                <a:solidFill>
                  <a:srgbClr val="ECE7DE"/>
                </a:solidFill>
                <a:latin typeface="Arial"/>
              </a:rPr>
              <a:t>Governance &amp; Compliance — PublicLogic LLC  ·  Nathan Boudreau, MPA, MCPPO  ·  Dr. Allison Weiss Rothschild</a:t>
            </a:r>
          </a:p>
          <a:p>
            <a:pPr algn="l">
              <a:lnSpc>
                <a:spcPct val="150000"/>
              </a:lnSpc>
            </a:pPr>
            <a:r>
              <a:rPr sz="1250" b="0" i="0">
                <a:solidFill>
                  <a:srgbClr val="B08948"/>
                </a:solidFill>
                <a:latin typeface="Arial"/>
              </a:rPr>
              <a:t>nate@publiclogic.org  ·  978-807-0829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850" b="1" i="0">
                <a:solidFill>
                  <a:srgbClr val="9A9083"/>
                </a:solidFill>
                <a:latin typeface="Arial"/>
              </a:rPr>
              <a:t>PRIVATE &amp;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