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Swanzey Financial &amp; Governance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FDAE6"/>
                </a:solidFill>
              </a:rPr>
              <a:t>15 years of budgets, votes, and patterns — and where it's heading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B0C4"/>
                </a:solidFill>
              </a:rPr>
              <a:t>PublicLogic VAULT  ·  June 2026  ·  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</a:rPr>
              <a:t>The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F5E5A"/>
                </a:solidFill>
              </a:rPr>
              <a:t>Swanzey will fund operations but won't borrow; rewards saving, punishes bonds; budget support is eroding; and the administrator's office keeps turning over — while the town takes on a water utility.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</a:rPr>
              <a:t>•  Can't borrow — </a:t>
            </a:r>
            <a:r>
              <a:rPr sz="1800">
                <a:solidFill>
                  <a:srgbClr val="5F5E5A"/>
                </a:solidFill>
              </a:rPr>
              <a:t>facility bonds get majorities but die at the 3/5 wall (2024 &amp; 2026)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</a:rPr>
              <a:t>•  Budget on autopilot — </a:t>
            </a:r>
            <a:r>
              <a:rPr sz="1800">
                <a:solidFill>
                  <a:srgbClr val="5F5E5A"/>
                </a:solidFill>
              </a:rPr>
              <a:t>+6–7%/yr; the default budget now equals the proposal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</a:rPr>
              <a:t>•  Trust eroding — </a:t>
            </a:r>
            <a:r>
              <a:rPr sz="1800">
                <a:solidFill>
                  <a:srgbClr val="5F5E5A"/>
                </a:solidFill>
              </a:rPr>
              <a:t>operating-budget support 81% (2011) → 57% (2025)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</a:rPr>
              <a:t>•  Execution thinning — </a:t>
            </a:r>
            <a:r>
              <a:rPr sz="1800">
                <a:solidFill>
                  <a:srgbClr val="5F5E5A"/>
                </a:solidFill>
              </a:rPr>
              <a:t>3 town administrators in ~2 years; ousted incumbents; a land-use lawsuit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</a:rPr>
              <a:t>Budget: a high-growth regime</a:t>
            </a:r>
          </a:p>
        </p:txBody>
      </p:sp>
      <p:pic>
        <p:nvPicPr>
          <p:cNvPr id="4" name="Picture 3" descr="01_budget-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9601200" cy="52892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</a:rPr>
              <a:t>The 'vote no to save' lever is gone</a:t>
            </a:r>
          </a:p>
        </p:txBody>
      </p:sp>
      <p:pic>
        <p:nvPicPr>
          <p:cNvPr id="4" name="Picture 3" descr="04_default-gap-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71600"/>
            <a:ext cx="9235440" cy="4929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3C1D"/>
                </a:solidFill>
              </a:rPr>
              <a:t>2025 default is within $47K of the proposal — rejecting the budget changes almost nothing.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</a:rPr>
              <a:t>Budget support is sliding toward the cliff</a:t>
            </a:r>
          </a:p>
        </p:txBody>
      </p:sp>
      <p:pic>
        <p:nvPicPr>
          <p:cNvPr id="4" name="Picture 3" descr="02_budget-support-er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371600"/>
            <a:ext cx="9052560" cy="50571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</a:rPr>
              <a:t>The real problem: the 3/5 wall</a:t>
            </a:r>
          </a:p>
        </p:txBody>
      </p:sp>
      <p:pic>
        <p:nvPicPr>
          <p:cNvPr id="4" name="Picture 3" descr="03_reserves-vs-bo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280160"/>
            <a:ext cx="9052560" cy="53158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3C1D"/>
                </a:solidFill>
              </a:rPr>
              <a:t>Not an opposition problem — a supermajority-threshold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</a:rPr>
              <a:t>The 2024 'tax cut' was a revaluation</a:t>
            </a:r>
          </a:p>
        </p:txBody>
      </p:sp>
      <p:pic>
        <p:nvPicPr>
          <p:cNvPr id="4" name="Picture 3" descr="05_tax-rate-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280160"/>
            <a:ext cx="9052560" cy="52681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</a:rPr>
              <a:t>Their exact pains (ranked)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</a:rPr>
              <a:t>•  P1 Administrative instability — </a:t>
            </a:r>
            <a:r>
              <a:rPr sz="1700">
                <a:solidFill>
                  <a:srgbClr val="5F5E5A"/>
                </a:solidFill>
              </a:rPr>
              <a:t>3 administrators in ~2 years (the master pain)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</a:rPr>
              <a:t>•  P2 Capital paralysis — </a:t>
            </a:r>
            <a:r>
              <a:rPr sz="1700">
                <a:solidFill>
                  <a:srgbClr val="5F5E5A"/>
                </a:solidFill>
              </a:rPr>
              <a:t>bonds die at 3/5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</a:rPr>
              <a:t>•  P3 Eroding budget support — </a:t>
            </a:r>
            <a:r>
              <a:rPr sz="1700">
                <a:solidFill>
                  <a:srgbClr val="5F5E5A"/>
                </a:solidFill>
              </a:rPr>
              <a:t>81% → 57%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</a:rPr>
              <a:t>•  P4 Dead default-budget lever — </a:t>
            </a:r>
            <a:r>
              <a:rPr sz="1700">
                <a:solidFill>
                  <a:srgbClr val="5F5E5A"/>
                </a:solidFill>
              </a:rPr>
              <a:t>gap just $47K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</a:rPr>
              <a:t>•  P5 Development litigation — </a:t>
            </a:r>
            <a:r>
              <a:rPr sz="1700">
                <a:solidFill>
                  <a:srgbClr val="5F5E5A"/>
                </a:solidFill>
              </a:rPr>
              <a:t>Avanru senior-housing federal suit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</a:rPr>
              <a:t>•  P6 Water-utility takeover — </a:t>
            </a:r>
            <a:r>
              <a:rPr sz="1700">
                <a:solidFill>
                  <a:srgbClr val="5F5E5A"/>
                </a:solidFill>
              </a:rPr>
              <a:t>West Swanzey acquisition + SRF capital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</a:rPr>
              <a:t>•  P7–P10 — </a:t>
            </a:r>
            <a:r>
              <a:rPr sz="1700">
                <a:solidFill>
                  <a:srgbClr val="5F5E5A"/>
                </a:solidFill>
              </a:rPr>
              <a:t>bridge fights, governance churn, cost escalators, electoral volatility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</a:rPr>
              <a:t>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</a:rPr>
              <a:t>•  Budget — </a:t>
            </a:r>
            <a:r>
              <a:rPr sz="1800">
                <a:solidFill>
                  <a:srgbClr val="5F5E5A"/>
                </a:solidFill>
              </a:rPr>
              <a:t>base case crosses $10M by 2027–28, nears $12M by 2030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</a:rPr>
              <a:t>•  Budget support — </a:t>
            </a:r>
            <a:r>
              <a:rPr sz="1800">
                <a:solidFill>
                  <a:srgbClr val="5F5E5A"/>
                </a:solidFill>
              </a:rPr>
              <a:t>approaches the 50% line ~2030 (but default≈proposed, so low fiscal impact)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</a:rPr>
              <a:t>•  Capital — </a:t>
            </a:r>
            <a:r>
              <a:rPr sz="1800">
                <a:solidFill>
                  <a:srgbClr val="5F5E5A"/>
                </a:solidFill>
              </a:rPr>
              <a:t>any 3/5 bond keeps failing; reserve + state-aid + SRF is the only viable path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</a:rPr>
              <a:t>•  Water — </a:t>
            </a:r>
            <a:r>
              <a:rPr sz="1800">
                <a:solidFill>
                  <a:srgbClr val="5F5E5A"/>
                </a:solidFill>
              </a:rPr>
              <a:t>dominates the next 5 years; keep it on rates, not the tax base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</a:rPr>
              <a:t>•  Wildcard — </a:t>
            </a:r>
            <a:r>
              <a:rPr sz="1800">
                <a:solidFill>
                  <a:srgbClr val="5F5E5A"/>
                </a:solidFill>
              </a:rPr>
              <a:t>administrator stability gates every other outcome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 (sequenced)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800">
                <a:solidFill>
                  <a:srgbClr val="FFFFFF"/>
                </a:solidFill>
              </a:rPr>
              <a:t>R1 Stabilize the administrator </a:t>
            </a:r>
            <a:r>
              <a:rPr sz="1800">
                <a:solidFill>
                  <a:srgbClr val="CFDAE6"/>
                </a:solidFill>
              </a:rPr>
              <a:t>— multi-year contract, clear lanes (do first)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FFFFFF"/>
                </a:solidFill>
              </a:rPr>
              <a:t>R2 Reserve + state-aid + SRF capital </a:t>
            </a:r>
            <a:r>
              <a:rPr sz="1800">
                <a:solidFill>
                  <a:srgbClr val="CFDAE6"/>
                </a:solidFill>
              </a:rPr>
              <a:t>— stop losing 3/5 bond votes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FFFFFF"/>
                </a:solidFill>
              </a:rPr>
              <a:t>R3 Tell the truth on revaluation &amp; budget </a:t>
            </a:r>
            <a:r>
              <a:rPr sz="1800">
                <a:solidFill>
                  <a:srgbClr val="CFDAE6"/>
                </a:solidFill>
              </a:rPr>
              <a:t>— rebuild trust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FFFFFF"/>
                </a:solidFill>
              </a:rPr>
              <a:t>R4 Publish a 6-year CIP </a:t>
            </a:r>
            <a:r>
              <a:rPr sz="1800">
                <a:solidFill>
                  <a:srgbClr val="CFDAE6"/>
                </a:solidFill>
              </a:rPr>
              <a:t>— surprises become expectations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FFFFFF"/>
                </a:solidFill>
              </a:rPr>
              <a:t>R5 Govern the new 5-member board </a:t>
            </a:r>
            <a:r>
              <a:rPr sz="1800">
                <a:solidFill>
                  <a:srgbClr val="CFDAE6"/>
                </a:solidFill>
              </a:rPr>
              <a:t>— norms &amp; onboarding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FFFFFF"/>
                </a:solidFill>
              </a:rPr>
              <a:t>R6 Run water as an enterprise </a:t>
            </a:r>
            <a:r>
              <a:rPr sz="1800">
                <a:solidFill>
                  <a:srgbClr val="CFDAE6"/>
                </a:solidFill>
              </a:rPr>
              <a:t>— rate study, DWSRF, asset mgmt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FFFFFF"/>
                </a:solidFill>
              </a:rPr>
              <a:t>R7 De-risk land-use decisions </a:t>
            </a:r>
            <a:r>
              <a:rPr sz="1800">
                <a:solidFill>
                  <a:srgbClr val="CFDAE6"/>
                </a:solidFill>
              </a:rPr>
              <a:t>— decide on criteria, with counsel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3A5F"/>
                </a:solidFill>
              </a:rPr>
              <a:t>Stabilize the executive. Save, don't borrow.</a:t>
            </a:r>
          </a:p>
          <a:p>
            <a:pPr algn="ctr"/>
            <a:r>
              <a:rPr sz="3000" b="1" i="0">
                <a:solidFill>
                  <a:srgbClr val="1F3A5F"/>
                </a:solidFill>
              </a:rPr>
              <a:t>Tell voters the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5F5E5A"/>
                </a:solidFill>
              </a:rPr>
              <a:t>Full model, findings, and sources accompany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F5E5A"/>
                </a:solidFill>
              </a:rPr>
              <a:t>Source: Town of Swanzey Annual Reports 2011–2025; NH DRA; local news. Forecasts modeled.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